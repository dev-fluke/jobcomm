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4812" r:id="rId2"/>
    <p:sldId id="4834" r:id="rId3"/>
    <p:sldId id="4841" r:id="rId4"/>
    <p:sldId id="4842" r:id="rId5"/>
    <p:sldId id="4843" r:id="rId6"/>
    <p:sldId id="4837" r:id="rId7"/>
    <p:sldId id="4845" r:id="rId8"/>
    <p:sldId id="4866" r:id="rId9"/>
    <p:sldId id="4867" r:id="rId10"/>
    <p:sldId id="4860" r:id="rId11"/>
    <p:sldId id="4849" r:id="rId12"/>
    <p:sldId id="4851" r:id="rId13"/>
    <p:sldId id="4859" r:id="rId14"/>
    <p:sldId id="4839" r:id="rId15"/>
  </p:sldIdLst>
  <p:sldSz cx="12192000" cy="6858000"/>
  <p:notesSz cx="6858000" cy="9144000"/>
  <p:defaultTextStyle>
    <a:defPPr>
      <a:defRPr lang="th-TH"/>
    </a:defPPr>
    <a:lvl1pPr marL="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F7E8"/>
    <a:srgbClr val="D8EE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66" autoAdjust="0"/>
    <p:restoredTop sz="93381" autoAdjust="0"/>
  </p:normalViewPr>
  <p:slideViewPr>
    <p:cSldViewPr snapToGrid="0">
      <p:cViewPr>
        <p:scale>
          <a:sx n="75" d="100"/>
          <a:sy n="75" d="100"/>
        </p:scale>
        <p:origin x="1500" y="6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h-T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2282AC-C15D-4DE5-ADA7-2CEFA0DC1E1C}" type="datetimeFigureOut">
              <a:rPr lang="th-TH" smtClean="0"/>
              <a:t>16/09/69</a:t>
            </a:fld>
            <a:endParaRPr lang="th-T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h-T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h-T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FBFA42-F541-44D7-ADD3-3141E0CD32DE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2548297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79413" y="685800"/>
            <a:ext cx="6099175" cy="34305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B54109A-5D9F-417E-8D6F-F7B5A085EB1B}" type="slidenum">
              <a:rPr kumimoji="0" lang="th-T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rdia New" panose="020B0304020202020204" pitchFamily="34" charset="-34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th-T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Cordia New" panose="020B0304020202020204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3214704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4A65D-34DD-E718-35EB-E8A02D668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139C21-29C1-07C6-9FBC-801D9166ED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79413" y="685800"/>
            <a:ext cx="6099175" cy="343058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0D4E58-BEC9-D452-E15F-8F8F3CA64B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7C2708-33FD-6B5B-1C81-89EF1AD5F9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B54109A-5D9F-417E-8D6F-F7B5A085EB1B}" type="slidenum">
              <a:rPr kumimoji="0" lang="th-T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rdia New" panose="020B0304020202020204" pitchFamily="34" charset="-34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th-T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Cordia New" panose="020B0304020202020204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5223508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 Diagonal Corner Rectangle 6"/>
          <p:cNvSpPr/>
          <p:nvPr/>
        </p:nvSpPr>
        <p:spPr>
          <a:xfrm>
            <a:off x="219456" y="146304"/>
            <a:ext cx="11753088" cy="2505456"/>
          </a:xfrm>
          <a:prstGeom prst="round2DiagRect">
            <a:avLst>
              <a:gd name="adj1" fmla="val 11807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121797" tIns="60898" rIns="121797" bIns="60898" anchor="ctr"/>
          <a:lstStyle/>
          <a:p>
            <a:pPr algn="ctr" defTabSz="1217820"/>
            <a:endParaRPr lang="en-US" sz="3700">
              <a:solidFill>
                <a:prstClr val="white"/>
              </a:solidFill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618979" y="381001"/>
            <a:ext cx="10972800" cy="2209800"/>
          </a:xfrm>
        </p:spPr>
        <p:txBody>
          <a:bodyPr lIns="60898" rIns="304432" anchor="b">
            <a:normAutofit/>
          </a:bodyPr>
          <a:lstStyle>
            <a:lvl1pPr marL="0" algn="r">
              <a:defRPr sz="6400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2844801" y="2819400"/>
            <a:ext cx="8746979" cy="1752600"/>
          </a:xfrm>
        </p:spPr>
        <p:txBody>
          <a:bodyPr lIns="60898" rIns="328816"/>
          <a:lstStyle>
            <a:lvl1pPr marL="0" indent="0" algn="r">
              <a:spcBef>
                <a:spcPts val="0"/>
              </a:spcBef>
              <a:buNone/>
              <a:defRPr>
                <a:effectLst/>
              </a:defRPr>
            </a:lvl1pPr>
            <a:lvl2pPr marL="608867" indent="0" algn="ctr">
              <a:buNone/>
            </a:lvl2pPr>
            <a:lvl3pPr marL="1217820" indent="0" algn="ctr">
              <a:buNone/>
            </a:lvl3pPr>
            <a:lvl4pPr marL="1826714" indent="0" algn="ctr">
              <a:buNone/>
            </a:lvl4pPr>
            <a:lvl5pPr marL="2435638" indent="0" algn="ctr">
              <a:buNone/>
            </a:lvl5pPr>
            <a:lvl6pPr marL="3044504" indent="0" algn="ctr">
              <a:buNone/>
            </a:lvl6pPr>
            <a:lvl7pPr marL="3653371" indent="0" algn="ctr">
              <a:buNone/>
            </a:lvl7pPr>
            <a:lvl8pPr marL="4262293" indent="0" algn="ctr">
              <a:buNone/>
            </a:lvl8pPr>
            <a:lvl9pPr marL="4871200" indent="0" algn="ctr">
              <a:buNone/>
            </a:lvl9pPr>
            <a:extLst/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>
          <a:xfrm>
            <a:off x="7416800" y="6509004"/>
            <a:ext cx="4003040" cy="274320"/>
          </a:xfrm>
        </p:spPr>
        <p:txBody>
          <a:bodyPr vert="horz" rtlCol="0"/>
          <a:lstStyle/>
          <a:p>
            <a:fld id="{BD25FFEA-251E-44C2-AF5E-15D80A91260A}" type="datetimeFigureOut">
              <a:rPr lang="th-TH" smtClean="0">
                <a:solidFill>
                  <a:srgbClr val="2F5897">
                    <a:tint val="60000"/>
                    <a:satMod val="155000"/>
                  </a:srgbClr>
                </a:solidFill>
              </a:rPr>
              <a:pPr/>
              <a:t>16/09/69</a:t>
            </a:fld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>
          <a:xfrm>
            <a:off x="11518605" y="6509004"/>
            <a:ext cx="619051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F1DE1E18-04A9-4779-B6FE-6C77CD99D06B}" type="slidenum">
              <a:rPr lang="th-TH" smtClean="0">
                <a:solidFill>
                  <a:srgbClr val="E4E9EF">
                    <a:shade val="90000"/>
                  </a:srgbClr>
                </a:solidFill>
              </a:rPr>
              <a:pPr/>
              <a:t>‹#›</a:t>
            </a:fld>
            <a:endParaRPr lang="th-TH">
              <a:solidFill>
                <a:srgbClr val="E4E9EF">
                  <a:shade val="90000"/>
                </a:srgbClr>
              </a:solidFill>
            </a:endParaRPr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2"/>
          </p:nvPr>
        </p:nvSpPr>
        <p:spPr>
          <a:xfrm>
            <a:off x="2133600" y="6509004"/>
            <a:ext cx="5209952" cy="274320"/>
          </a:xfrm>
        </p:spPr>
        <p:txBody>
          <a:bodyPr vert="horz" rtlCol="0"/>
          <a:lstStyle/>
          <a:p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0045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784523" y="1424588"/>
            <a:ext cx="10668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121797" tIns="60898" rIns="121797" bIns="60898" anchor="ctr"/>
          <a:lstStyle/>
          <a:p>
            <a:pPr algn="ctr" defTabSz="1217820"/>
            <a:endParaRPr lang="en-US" sz="3700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5FFEA-251E-44C2-AF5E-15D80A91260A}" type="datetimeFigureOut">
              <a:rPr lang="th-TH" smtClean="0">
                <a:solidFill>
                  <a:srgbClr val="2F5897">
                    <a:tint val="60000"/>
                    <a:satMod val="155000"/>
                  </a:srgbClr>
                </a:solidFill>
              </a:rPr>
              <a:pPr/>
              <a:t>16/09/69</a:t>
            </a:fld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E1E18-04A9-4779-B6FE-6C77CD99D06B}" type="slidenum">
              <a:rPr lang="th-TH" smtClean="0">
                <a:solidFill>
                  <a:srgbClr val="E4E9EF">
                    <a:shade val="90000"/>
                  </a:srgbClr>
                </a:solidFill>
              </a:rPr>
              <a:pPr/>
              <a:t>‹#›</a:t>
            </a:fld>
            <a:endParaRPr lang="th-TH">
              <a:solidFill>
                <a:srgbClr val="E4E9EF">
                  <a:shade val="9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02592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333504" y="3267456"/>
            <a:ext cx="987552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121797" tIns="60898" rIns="121797" bIns="60898" anchor="ctr"/>
          <a:lstStyle/>
          <a:p>
            <a:pPr algn="ctr" defTabSz="1217820"/>
            <a:endParaRPr lang="en-US" sz="3700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168" y="498231"/>
            <a:ext cx="10363200" cy="2731008"/>
          </a:xfrm>
        </p:spPr>
        <p:txBody>
          <a:bodyPr rIns="133931"/>
          <a:lstStyle>
            <a:lvl1pPr algn="r">
              <a:buNone/>
              <a:defRPr sz="5300" b="1" cap="none">
                <a:solidFill>
                  <a:schemeClr val="accent1">
                    <a:tint val="95000"/>
                    <a:satMod val="200000"/>
                  </a:schemeClr>
                </a:solidFill>
              </a:defRPr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3287713"/>
            <a:ext cx="10363200" cy="1509712"/>
          </a:xfrm>
        </p:spPr>
        <p:txBody>
          <a:bodyPr rIns="170504" anchor="t"/>
          <a:lstStyle>
            <a:lvl1pPr marL="0" indent="0" algn="r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>
          <a:xfrm>
            <a:off x="7416800" y="6513671"/>
            <a:ext cx="4003040" cy="274320"/>
          </a:xfrm>
        </p:spPr>
        <p:txBody>
          <a:bodyPr vert="horz" rtlCol="0"/>
          <a:lstStyle/>
          <a:p>
            <a:fld id="{BD25FFEA-251E-44C2-AF5E-15D80A91260A}" type="datetimeFigureOut">
              <a:rPr lang="th-TH" smtClean="0">
                <a:solidFill>
                  <a:srgbClr val="2F5897">
                    <a:tint val="60000"/>
                    <a:satMod val="155000"/>
                  </a:srgbClr>
                </a:solidFill>
              </a:rPr>
              <a:pPr/>
              <a:t>16/09/69</a:t>
            </a:fld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>
          <a:xfrm>
            <a:off x="11518605" y="6513671"/>
            <a:ext cx="619051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F1DE1E18-04A9-4779-B6FE-6C77CD99D06B}" type="slidenum">
              <a:rPr lang="th-TH" smtClean="0">
                <a:solidFill>
                  <a:srgbClr val="E4E9EF">
                    <a:shade val="90000"/>
                  </a:srgbClr>
                </a:solidFill>
              </a:rPr>
              <a:pPr/>
              <a:t>‹#›</a:t>
            </a:fld>
            <a:endParaRPr lang="th-TH">
              <a:solidFill>
                <a:srgbClr val="E4E9EF">
                  <a:shade val="90000"/>
                </a:srgbClr>
              </a:solidFill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>
          <a:xfrm>
            <a:off x="2133600" y="6513671"/>
            <a:ext cx="5209952" cy="274320"/>
          </a:xfrm>
        </p:spPr>
        <p:txBody>
          <a:bodyPr vert="horz" rtlCol="0"/>
          <a:lstStyle/>
          <a:p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72420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45920"/>
            <a:ext cx="5384800" cy="4526280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45920"/>
            <a:ext cx="5384800" cy="4526280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5FFEA-251E-44C2-AF5E-15D80A91260A}" type="datetimeFigureOut">
              <a:rPr lang="th-TH" smtClean="0">
                <a:solidFill>
                  <a:srgbClr val="2F5897">
                    <a:tint val="60000"/>
                    <a:satMod val="155000"/>
                  </a:srgbClr>
                </a:solidFill>
              </a:rPr>
              <a:pPr/>
              <a:t>16/09/69</a:t>
            </a:fld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521441" y="6514568"/>
            <a:ext cx="619051" cy="274320"/>
          </a:xfrm>
        </p:spPr>
        <p:txBody>
          <a:bodyPr/>
          <a:lstStyle/>
          <a:p>
            <a:fld id="{F1DE1E18-04A9-4779-B6FE-6C77CD99D06B}" type="slidenum">
              <a:rPr lang="th-TH" smtClean="0">
                <a:solidFill>
                  <a:srgbClr val="E4E9EF">
                    <a:shade val="90000"/>
                  </a:srgbClr>
                </a:solidFill>
              </a:rPr>
              <a:pPr/>
              <a:t>‹#›</a:t>
            </a:fld>
            <a:endParaRPr lang="th-TH">
              <a:solidFill>
                <a:srgbClr val="E4E9EF">
                  <a:shade val="90000"/>
                </a:srgbClr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84523" y="1424588"/>
            <a:ext cx="10668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121797" tIns="60898" rIns="121797" bIns="60898" anchor="ctr"/>
          <a:lstStyle/>
          <a:p>
            <a:pPr algn="ctr" defTabSz="1217820"/>
            <a:endParaRPr lang="en-US" sz="37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8739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822325" y="2165216"/>
            <a:ext cx="499872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121797" tIns="60898" rIns="121797" bIns="60898" anchor="b"/>
          <a:lstStyle/>
          <a:p>
            <a:pPr algn="ctr" defTabSz="1217820"/>
            <a:endParaRPr lang="en-US" sz="3700">
              <a:solidFill>
                <a:prstClr val="white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400800" y="2165216"/>
            <a:ext cx="499872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121797" tIns="60898" rIns="121797" bIns="60898" anchor="b"/>
          <a:lstStyle/>
          <a:p>
            <a:pPr algn="ctr" defTabSz="1217820"/>
            <a:endParaRPr lang="en-US" sz="3700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51948"/>
            <a:ext cx="10972800" cy="1143000"/>
          </a:xfrm>
        </p:spPr>
        <p:txBody>
          <a:bodyPr anchor="b"/>
          <a:lstStyle>
            <a:lvl1pPr>
              <a:defRPr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>
            <a:noAutofit/>
          </a:bodyPr>
          <a:lstStyle>
            <a:lvl1pPr marL="121797" indent="0" algn="l">
              <a:spcBef>
                <a:spcPts val="0"/>
              </a:spcBef>
              <a:buNone/>
              <a:defRPr sz="2900" b="0" cap="all" baseline="0"/>
            </a:lvl1pPr>
            <a:lvl2pPr>
              <a:buNone/>
              <a:defRPr sz="2700" b="1"/>
            </a:lvl2pPr>
            <a:lvl3pPr>
              <a:buNone/>
              <a:defRPr sz="2400" b="1"/>
            </a:lvl3pPr>
            <a:lvl4pPr>
              <a:buNone/>
              <a:defRPr sz="2100" b="1"/>
            </a:lvl4pPr>
            <a:lvl5pPr>
              <a:buNone/>
              <a:defRPr sz="2100" b="1"/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3434" y="1535113"/>
            <a:ext cx="5389033" cy="639763"/>
          </a:xfrm>
        </p:spPr>
        <p:txBody>
          <a:bodyPr anchor="b">
            <a:noAutofit/>
          </a:bodyPr>
          <a:lstStyle>
            <a:lvl1pPr marL="121797" indent="0" algn="l">
              <a:spcBef>
                <a:spcPts val="0"/>
              </a:spcBef>
              <a:buNone/>
              <a:defRPr sz="2900" b="0" cap="all" baseline="0"/>
            </a:lvl1pPr>
            <a:lvl2pPr>
              <a:buNone/>
              <a:defRPr sz="2700" b="1"/>
            </a:lvl2pPr>
            <a:lvl3pPr>
              <a:buNone/>
              <a:defRPr sz="2400" b="1"/>
            </a:lvl3pPr>
            <a:lvl4pPr>
              <a:buNone/>
              <a:defRPr sz="2100" b="1"/>
            </a:lvl4pPr>
            <a:lvl5pPr>
              <a:buNone/>
              <a:defRPr sz="2100" b="1"/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609600" y="2362208"/>
            <a:ext cx="5386917" cy="3941763"/>
          </a:xfrm>
        </p:spPr>
        <p:txBody>
          <a:bodyPr lIns="121797"/>
          <a:lstStyle>
            <a:lvl1pPr>
              <a:defRPr sz="29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34" y="2362208"/>
            <a:ext cx="5389033" cy="3941763"/>
          </a:xfrm>
        </p:spPr>
        <p:txBody>
          <a:bodyPr/>
          <a:lstStyle>
            <a:lvl1pPr>
              <a:defRPr sz="29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5FFEA-251E-44C2-AF5E-15D80A91260A}" type="datetimeFigureOut">
              <a:rPr lang="th-TH" smtClean="0">
                <a:solidFill>
                  <a:srgbClr val="2F5897">
                    <a:tint val="60000"/>
                    <a:satMod val="155000"/>
                  </a:srgbClr>
                </a:solidFill>
              </a:rPr>
              <a:pPr/>
              <a:t>16/09/69</a:t>
            </a:fld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521441" y="6514568"/>
            <a:ext cx="619051" cy="274320"/>
          </a:xfrm>
        </p:spPr>
        <p:txBody>
          <a:bodyPr/>
          <a:lstStyle/>
          <a:p>
            <a:fld id="{F1DE1E18-04A9-4779-B6FE-6C77CD99D06B}" type="slidenum">
              <a:rPr lang="th-TH" smtClean="0">
                <a:solidFill>
                  <a:srgbClr val="E4E9EF">
                    <a:shade val="90000"/>
                  </a:srgbClr>
                </a:solidFill>
              </a:rPr>
              <a:pPr/>
              <a:t>‹#›</a:t>
            </a:fld>
            <a:endParaRPr lang="th-TH">
              <a:solidFill>
                <a:srgbClr val="E4E9EF">
                  <a:shade val="9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45760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53219"/>
            <a:ext cx="10972800" cy="11430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5FFEA-251E-44C2-AF5E-15D80A91260A}" type="datetimeFigureOut">
              <a:rPr lang="th-TH" smtClean="0">
                <a:solidFill>
                  <a:srgbClr val="2F5897">
                    <a:tint val="60000"/>
                    <a:satMod val="155000"/>
                  </a:srgbClr>
                </a:solidFill>
              </a:rPr>
              <a:pPr/>
              <a:t>16/09/69</a:t>
            </a:fld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E1E18-04A9-4779-B6FE-6C77CD99D06B}" type="slidenum">
              <a:rPr lang="th-TH" smtClean="0">
                <a:solidFill>
                  <a:srgbClr val="E4E9EF">
                    <a:shade val="90000"/>
                  </a:srgbClr>
                </a:solidFill>
              </a:rPr>
              <a:pPr/>
              <a:t>‹#›</a:t>
            </a:fld>
            <a:endParaRPr lang="th-TH">
              <a:solidFill>
                <a:srgbClr val="E4E9EF">
                  <a:shade val="90000"/>
                </a:srgbClr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84523" y="1424588"/>
            <a:ext cx="10668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121797" tIns="60898" rIns="121797" bIns="60898" anchor="ctr"/>
          <a:lstStyle/>
          <a:p>
            <a:pPr algn="ctr" defTabSz="1217820"/>
            <a:endParaRPr lang="en-US" sz="37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6463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5FFEA-251E-44C2-AF5E-15D80A91260A}" type="datetimeFigureOut">
              <a:rPr lang="th-TH" smtClean="0">
                <a:solidFill>
                  <a:srgbClr val="2F5897">
                    <a:tint val="60000"/>
                    <a:satMod val="155000"/>
                  </a:srgbClr>
                </a:solidFill>
              </a:rPr>
              <a:pPr/>
              <a:t>16/09/69</a:t>
            </a:fld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E1E18-04A9-4779-B6FE-6C77CD99D06B}" type="slidenum">
              <a:rPr lang="th-TH" smtClean="0">
                <a:solidFill>
                  <a:srgbClr val="E4E9EF">
                    <a:shade val="90000"/>
                  </a:srgbClr>
                </a:solidFill>
              </a:rPr>
              <a:pPr/>
              <a:t>‹#›</a:t>
            </a:fld>
            <a:endParaRPr lang="th-TH">
              <a:solidFill>
                <a:srgbClr val="E4E9EF">
                  <a:shade val="9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4564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743403" y="1057656"/>
            <a:ext cx="499872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121797" tIns="60898" rIns="121797" bIns="60898" anchor="ctr"/>
          <a:lstStyle/>
          <a:p>
            <a:pPr algn="ctr" defTabSz="1217820"/>
            <a:endParaRPr lang="en-US" sz="3700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7515" y="304800"/>
            <a:ext cx="5242560" cy="762000"/>
          </a:xfrm>
        </p:spPr>
        <p:txBody>
          <a:bodyPr anchor="b"/>
          <a:lstStyle>
            <a:lvl1pPr marL="0" algn="r">
              <a:buNone/>
              <a:defRPr sz="2700" b="1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617515" y="1107560"/>
            <a:ext cx="5242560" cy="1066800"/>
          </a:xfrm>
        </p:spPr>
        <p:txBody>
          <a:bodyPr/>
          <a:lstStyle>
            <a:lvl1pPr marL="0" indent="0" algn="r">
              <a:spcBef>
                <a:spcPts val="0"/>
              </a:spcBef>
              <a:buNone/>
              <a:defRPr sz="1900"/>
            </a:lvl1pPr>
            <a:lvl2pPr>
              <a:buNone/>
              <a:defRPr sz="1600"/>
            </a:lvl2pPr>
            <a:lvl3pPr>
              <a:buNone/>
              <a:defRPr sz="1300"/>
            </a:lvl3pPr>
            <a:lvl4pPr>
              <a:buNone/>
              <a:defRPr sz="1200"/>
            </a:lvl4pPr>
            <a:lvl5pPr>
              <a:buNone/>
              <a:defRPr sz="1200"/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304801" y="2209800"/>
            <a:ext cx="11555275" cy="3977640"/>
          </a:xfrm>
        </p:spPr>
        <p:txBody>
          <a:bodyPr/>
          <a:lstStyle>
            <a:lvl1pPr marL="389714">
              <a:defRPr sz="4300"/>
            </a:lvl1pPr>
            <a:lvl2pPr marL="791560">
              <a:defRPr sz="3700"/>
            </a:lvl2pPr>
            <a:lvl3pPr marL="1095995">
              <a:defRPr sz="3200"/>
            </a:lvl3pPr>
            <a:lvl4pPr marL="1400485">
              <a:defRPr sz="2700"/>
            </a:lvl4pPr>
            <a:lvl5pPr marL="1680565">
              <a:defRPr sz="27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>
          <a:xfrm>
            <a:off x="7416800" y="6513671"/>
            <a:ext cx="4003040" cy="274320"/>
          </a:xfrm>
        </p:spPr>
        <p:txBody>
          <a:bodyPr vert="horz" rtlCol="0"/>
          <a:lstStyle/>
          <a:p>
            <a:fld id="{BD25FFEA-251E-44C2-AF5E-15D80A91260A}" type="datetimeFigureOut">
              <a:rPr lang="th-TH" smtClean="0">
                <a:solidFill>
                  <a:srgbClr val="2F5897">
                    <a:tint val="60000"/>
                    <a:satMod val="155000"/>
                  </a:srgbClr>
                </a:solidFill>
              </a:rPr>
              <a:pPr/>
              <a:t>16/09/69</a:t>
            </a:fld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>
          <a:xfrm>
            <a:off x="11518605" y="6513671"/>
            <a:ext cx="619051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F1DE1E18-04A9-4779-B6FE-6C77CD99D06B}" type="slidenum">
              <a:rPr lang="th-TH" smtClean="0">
                <a:solidFill>
                  <a:srgbClr val="E4E9EF">
                    <a:shade val="90000"/>
                  </a:srgbClr>
                </a:solidFill>
              </a:rPr>
              <a:pPr/>
              <a:t>‹#›</a:t>
            </a:fld>
            <a:endParaRPr lang="th-TH">
              <a:solidFill>
                <a:srgbClr val="E4E9EF">
                  <a:shade val="90000"/>
                </a:srgbClr>
              </a:solidFill>
            </a:endParaRPr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2"/>
          </p:nvPr>
        </p:nvSpPr>
        <p:spPr>
          <a:xfrm>
            <a:off x="2133600" y="6513671"/>
            <a:ext cx="5209952" cy="274320"/>
          </a:xfrm>
        </p:spPr>
        <p:txBody>
          <a:bodyPr vert="horz" rtlCol="0"/>
          <a:lstStyle/>
          <a:p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48796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3924" y="4724400"/>
            <a:ext cx="7315200" cy="664536"/>
          </a:xfrm>
        </p:spPr>
        <p:txBody>
          <a:bodyPr anchor="b"/>
          <a:lstStyle>
            <a:lvl1pPr marL="0" algn="r">
              <a:buNone/>
              <a:defRPr sz="2700" b="1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053924" y="5389006"/>
            <a:ext cx="7315200" cy="912255"/>
          </a:xfrm>
        </p:spPr>
        <p:txBody>
          <a:bodyPr/>
          <a:lstStyle>
            <a:lvl1pPr marL="0" indent="0" algn="r">
              <a:spcBef>
                <a:spcPts val="0"/>
              </a:spcBef>
              <a:buNone/>
              <a:defRPr sz="1900"/>
            </a:lvl1pPr>
            <a:lvl2pPr>
              <a:defRPr sz="1600"/>
            </a:lvl2pPr>
            <a:lvl3pPr>
              <a:defRPr sz="1300"/>
            </a:lvl3pPr>
            <a:lvl4pPr>
              <a:defRPr sz="1200"/>
            </a:lvl4pPr>
            <a:lvl5pPr>
              <a:defRPr sz="1200"/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13" name="Picture Placeholder 12"/>
          <p:cNvSpPr>
            <a:spLocks noGrp="1"/>
          </p:cNvSpPr>
          <p:nvPr>
            <p:ph type="pic" idx="1"/>
          </p:nvPr>
        </p:nvSpPr>
        <p:spPr>
          <a:xfrm>
            <a:off x="406400" y="249864"/>
            <a:ext cx="11379200" cy="4343400"/>
          </a:xfrm>
          <a:prstGeom prst="round2DiagRect">
            <a:avLst>
              <a:gd name="adj1" fmla="val 11403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marL="0" indent="0" algn="l" rtl="0" eaLnBrk="1" latinLnBrk="0" hangingPunct="1">
              <a:buNone/>
              <a:defRPr sz="4300"/>
            </a:lvl1pPr>
            <a:extLst/>
          </a:lstStyle>
          <a:p>
            <a:pPr marL="0" algn="l" rtl="0" eaLnBrk="1" latinLnBrk="0" hangingPunct="1"/>
            <a:r>
              <a:rPr kumimoji="0" lang="en-US">
                <a:solidFill>
                  <a:schemeClr val="lt1"/>
                </a:solidFill>
                <a:latin typeface="+mn-lt"/>
                <a:ea typeface="+mn-ea"/>
                <a:cs typeface="+mn-cs"/>
              </a:rPr>
              <a:t>Click icon to add picture</a:t>
            </a:r>
            <a:endParaRPr kumimoji="0"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>
          <a:xfrm>
            <a:off x="7416800" y="6509004"/>
            <a:ext cx="4003040" cy="274320"/>
          </a:xfrm>
        </p:spPr>
        <p:txBody>
          <a:bodyPr vert="horz" rtlCol="0"/>
          <a:lstStyle/>
          <a:p>
            <a:fld id="{BD25FFEA-251E-44C2-AF5E-15D80A91260A}" type="datetimeFigureOut">
              <a:rPr lang="th-TH" smtClean="0">
                <a:solidFill>
                  <a:srgbClr val="2F5897">
                    <a:tint val="60000"/>
                    <a:satMod val="155000"/>
                  </a:srgbClr>
                </a:solidFill>
              </a:rPr>
              <a:pPr/>
              <a:t>16/09/69</a:t>
            </a:fld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>
          <a:xfrm>
            <a:off x="11518605" y="6509004"/>
            <a:ext cx="619051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F1DE1E18-04A9-4779-B6FE-6C77CD99D06B}" type="slidenum">
              <a:rPr lang="th-TH" smtClean="0">
                <a:solidFill>
                  <a:srgbClr val="E4E9EF">
                    <a:shade val="90000"/>
                  </a:srgbClr>
                </a:solidFill>
              </a:rPr>
              <a:pPr/>
              <a:t>‹#›</a:t>
            </a:fld>
            <a:endParaRPr lang="th-TH">
              <a:solidFill>
                <a:srgbClr val="E4E9EF">
                  <a:shade val="90000"/>
                </a:srgbClr>
              </a:solidFill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>
          <a:xfrm>
            <a:off x="2133600" y="6509004"/>
            <a:ext cx="5209952" cy="274320"/>
          </a:xfrm>
        </p:spPr>
        <p:txBody>
          <a:bodyPr vert="horz" rtlCol="0"/>
          <a:lstStyle/>
          <a:p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1298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5FFEA-251E-44C2-AF5E-15D80A91260A}" type="datetimeFigureOut">
              <a:rPr lang="th-TH" smtClean="0">
                <a:solidFill>
                  <a:srgbClr val="2F5897">
                    <a:tint val="60000"/>
                    <a:satMod val="155000"/>
                  </a:srgbClr>
                </a:solidFill>
              </a:rPr>
              <a:pPr/>
              <a:t>16/09/69</a:t>
            </a:fld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E1E18-04A9-4779-B6FE-6C77CD99D06B}" type="slidenum">
              <a:rPr lang="th-TH" smtClean="0">
                <a:solidFill>
                  <a:srgbClr val="E4E9EF">
                    <a:shade val="90000"/>
                  </a:srgbClr>
                </a:solidFill>
              </a:rPr>
              <a:pPr/>
              <a:t>‹#›</a:t>
            </a:fld>
            <a:endParaRPr lang="th-TH">
              <a:solidFill>
                <a:srgbClr val="E4E9EF">
                  <a:shade val="9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22796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8"/>
            <a:ext cx="2743200" cy="5851525"/>
          </a:xfrm>
        </p:spPr>
        <p:txBody>
          <a:bodyPr vert="eaVert"/>
          <a:lstStyle>
            <a:lvl1pPr algn="l">
              <a:defRPr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8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5FFEA-251E-44C2-AF5E-15D80A91260A}" type="datetimeFigureOut">
              <a:rPr lang="th-TH" smtClean="0">
                <a:solidFill>
                  <a:srgbClr val="2F5897">
                    <a:tint val="60000"/>
                    <a:satMod val="155000"/>
                  </a:srgbClr>
                </a:solidFill>
              </a:rPr>
              <a:pPr/>
              <a:t>16/09/69</a:t>
            </a:fld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E1E18-04A9-4779-B6FE-6C77CD99D06B}" type="slidenum">
              <a:rPr lang="th-TH" smtClean="0">
                <a:solidFill>
                  <a:srgbClr val="E4E9EF">
                    <a:shade val="90000"/>
                  </a:srgbClr>
                </a:solidFill>
              </a:rPr>
              <a:pPr/>
              <a:t>‹#›</a:t>
            </a:fld>
            <a:endParaRPr lang="th-TH">
              <a:solidFill>
                <a:srgbClr val="E4E9EF">
                  <a:shade val="9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6597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 Diagonal Corner Rectangle 6"/>
          <p:cNvSpPr/>
          <p:nvPr/>
        </p:nvSpPr>
        <p:spPr>
          <a:xfrm>
            <a:off x="219457" y="147085"/>
            <a:ext cx="11747795" cy="6565392"/>
          </a:xfrm>
          <a:prstGeom prst="round2DiagRect">
            <a:avLst>
              <a:gd name="adj1" fmla="val 11807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121797" tIns="60898" rIns="121797" bIns="60898" anchor="ctr"/>
          <a:lstStyle/>
          <a:p>
            <a:pPr algn="ctr" defTabSz="1217820"/>
            <a:endParaRPr lang="en-US" sz="3700">
              <a:solidFill>
                <a:prstClr val="white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1727200" y="6400800"/>
            <a:ext cx="5616352" cy="274320"/>
          </a:xfrm>
          <a:prstGeom prst="rect">
            <a:avLst/>
          </a:prstGeom>
        </p:spPr>
        <p:txBody>
          <a:bodyPr lIns="121797" tIns="60898" rIns="121797" bIns="60898"/>
          <a:lstStyle>
            <a:lvl1pPr algn="r" eaLnBrk="1" latinLnBrk="0" hangingPunct="1">
              <a:defRPr kumimoji="0" sz="1700">
                <a:solidFill>
                  <a:schemeClr val="bg2">
                    <a:tint val="60000"/>
                    <a:satMod val="155000"/>
                  </a:schemeClr>
                </a:solidFill>
              </a:defRPr>
            </a:lvl1pPr>
            <a:extLst/>
          </a:lstStyle>
          <a:p>
            <a:pPr defTabSz="1217820"/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7416800" y="6400800"/>
            <a:ext cx="4003040" cy="274320"/>
          </a:xfrm>
          <a:prstGeom prst="rect">
            <a:avLst/>
          </a:prstGeom>
        </p:spPr>
        <p:txBody>
          <a:bodyPr lIns="121797" tIns="60898" rIns="121797" bIns="60898"/>
          <a:lstStyle>
            <a:lvl1pPr algn="l" eaLnBrk="1" latinLnBrk="0" hangingPunct="1">
              <a:defRPr kumimoji="0" sz="1700">
                <a:solidFill>
                  <a:schemeClr val="bg2">
                    <a:tint val="60000"/>
                    <a:satMod val="155000"/>
                  </a:schemeClr>
                </a:solidFill>
              </a:defRPr>
            </a:lvl1pPr>
            <a:extLst/>
          </a:lstStyle>
          <a:p>
            <a:pPr defTabSz="1217820"/>
            <a:fld id="{BD25FFEA-251E-44C2-AF5E-15D80A91260A}" type="datetimeFigureOut">
              <a:rPr lang="th-TH" smtClean="0">
                <a:solidFill>
                  <a:srgbClr val="2F5897">
                    <a:tint val="60000"/>
                    <a:satMod val="155000"/>
                  </a:srgbClr>
                </a:solidFill>
              </a:rPr>
              <a:pPr defTabSz="1217820"/>
              <a:t>16/09/69</a:t>
            </a:fld>
            <a:endParaRPr lang="th-TH">
              <a:solidFill>
                <a:srgbClr val="2F5897">
                  <a:tint val="60000"/>
                  <a:satMod val="155000"/>
                </a:srgbClr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11518605" y="6514568"/>
            <a:ext cx="619051" cy="274320"/>
          </a:xfrm>
          <a:prstGeom prst="rect">
            <a:avLst/>
          </a:prstGeom>
        </p:spPr>
        <p:txBody>
          <a:bodyPr lIns="121797" tIns="60898" rIns="121797" bIns="60898" anchor="ctr"/>
          <a:lstStyle>
            <a:lvl1pPr algn="r" eaLnBrk="1" latinLnBrk="0" hangingPunct="1">
              <a:defRPr kumimoji="0" sz="2100">
                <a:solidFill>
                  <a:schemeClr val="tx2">
                    <a:shade val="90000"/>
                  </a:schemeClr>
                </a:solidFill>
                <a:effectLst/>
              </a:defRPr>
            </a:lvl1pPr>
            <a:extLst/>
          </a:lstStyle>
          <a:p>
            <a:pPr defTabSz="1217820"/>
            <a:fld id="{F1DE1E18-04A9-4779-B6FE-6C77CD99D06B}" type="slidenum">
              <a:rPr lang="th-TH" smtClean="0">
                <a:solidFill>
                  <a:srgbClr val="E4E9EF">
                    <a:shade val="90000"/>
                  </a:srgbClr>
                </a:solidFill>
              </a:rPr>
              <a:pPr defTabSz="1217820"/>
              <a:t>‹#›</a:t>
            </a:fld>
            <a:endParaRPr lang="th-TH">
              <a:solidFill>
                <a:srgbClr val="E4E9EF">
                  <a:shade val="90000"/>
                </a:srgbClr>
              </a:solidFill>
            </a:endParaRPr>
          </a:p>
        </p:txBody>
      </p:sp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253536"/>
            <a:ext cx="10972800" cy="1143000"/>
          </a:xfrm>
          <a:prstGeom prst="rect">
            <a:avLst/>
          </a:prstGeom>
        </p:spPr>
        <p:txBody>
          <a:bodyPr lIns="121797" tIns="60898" rIns="121797" bIns="60898" anchor="b">
            <a:normAutofit/>
            <a:scene3d>
              <a:camera prst="orthographicFront"/>
              <a:lightRig rig="soft" dir="t">
                <a:rot lat="0" lon="0" rev="2400000"/>
              </a:lightRig>
            </a:scene3d>
            <a:sp3d>
              <a:bevelT w="19050" h="12700"/>
            </a:sp3d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646237"/>
            <a:ext cx="10972800" cy="4526280"/>
          </a:xfrm>
          <a:prstGeom prst="rect">
            <a:avLst/>
          </a:prstGeom>
        </p:spPr>
        <p:txBody>
          <a:bodyPr lIns="121797" tIns="60898" rIns="121797" bIns="60898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6266232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marL="73090" algn="r" rtl="0" eaLnBrk="1" latinLnBrk="0" hangingPunct="1">
        <a:spcBef>
          <a:spcPct val="0"/>
        </a:spcBef>
        <a:buNone/>
        <a:defRPr kumimoji="0" sz="6100" kern="1200">
          <a:solidFill>
            <a:schemeClr val="tx2">
              <a:tint val="100000"/>
              <a:shade val="90000"/>
              <a:satMod val="250000"/>
              <a:alpha val="100000"/>
            </a:schemeClr>
          </a:solidFill>
          <a:effectLst>
            <a:outerShdw blurRad="38100" dist="25500" dir="5400000" algn="tl" rotWithShape="0">
              <a:srgbClr val="000000">
                <a:satMod val="180000"/>
                <a:alpha val="7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89037" indent="-389037" algn="l" rtl="0" eaLnBrk="1" latinLnBrk="0" hangingPunct="1">
        <a:spcBef>
          <a:spcPts val="0"/>
        </a:spcBef>
        <a:buClr>
          <a:schemeClr val="accent1"/>
        </a:buClr>
        <a:buSzPct val="70000"/>
        <a:buFont typeface="Wingdings 2"/>
        <a:buChar char=""/>
        <a:defRPr kumimoji="0" sz="4300" kern="1200">
          <a:solidFill>
            <a:schemeClr val="tx1"/>
          </a:solidFill>
          <a:latin typeface="+mn-lt"/>
          <a:ea typeface="+mn-ea"/>
          <a:cs typeface="+mn-cs"/>
        </a:defRPr>
      </a:lvl1pPr>
      <a:lvl2pPr marL="852459" indent="-304432" algn="l" rtl="0" eaLnBrk="1" latinLnBrk="0" hangingPunct="1">
        <a:spcBef>
          <a:spcPts val="533"/>
        </a:spcBef>
        <a:buClr>
          <a:schemeClr val="accent2"/>
        </a:buClr>
        <a:buSzPct val="90000"/>
        <a:buFontTx/>
        <a:buChar char="•"/>
        <a:defRPr kumimoji="0"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095995" indent="-255756" algn="l" rtl="0" eaLnBrk="1" latinLnBrk="0" hangingPunct="1">
        <a:spcBef>
          <a:spcPts val="533"/>
        </a:spcBef>
        <a:buClr>
          <a:schemeClr val="accent3"/>
        </a:buClr>
        <a:buSzPct val="100000"/>
        <a:buFont typeface="Wingdings 2"/>
        <a:buChar char=""/>
        <a:defRPr kumimoji="0" sz="3100" kern="1200">
          <a:solidFill>
            <a:schemeClr val="tx1"/>
          </a:solidFill>
          <a:latin typeface="+mn-lt"/>
          <a:ea typeface="+mn-ea"/>
          <a:cs typeface="+mn-cs"/>
        </a:defRPr>
      </a:lvl3pPr>
      <a:lvl4pPr marL="1339587" indent="-243565" algn="l" rtl="0" eaLnBrk="1" latinLnBrk="0" hangingPunct="1">
        <a:spcBef>
          <a:spcPts val="533"/>
        </a:spcBef>
        <a:buClr>
          <a:schemeClr val="accent3"/>
        </a:buClr>
        <a:buSzPct val="100000"/>
        <a:buFont typeface="Wingdings 2"/>
        <a:buChar char="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1583120" indent="-243565" algn="l" rtl="0" eaLnBrk="1" latinLnBrk="0" hangingPunct="1">
        <a:spcBef>
          <a:spcPts val="533"/>
        </a:spcBef>
        <a:buClr>
          <a:schemeClr val="accent3"/>
        </a:buClr>
        <a:buSzPct val="100000"/>
        <a:buFont typeface="Wingdings 2"/>
        <a:buChar char=""/>
        <a:defRPr kumimoji="0"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1826714" indent="-231402" algn="l" rtl="0" eaLnBrk="1" latinLnBrk="0" hangingPunct="1">
        <a:spcBef>
          <a:spcPts val="533"/>
        </a:spcBef>
        <a:buClr>
          <a:schemeClr val="accent4"/>
        </a:buClr>
        <a:buFont typeface="Wingdings 2"/>
        <a:buChar char=""/>
        <a:defRPr kumimoji="0" sz="2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70248" indent="-231402" algn="l" rtl="0" eaLnBrk="1" latinLnBrk="0" hangingPunct="1">
        <a:spcBef>
          <a:spcPts val="533"/>
        </a:spcBef>
        <a:buClr>
          <a:schemeClr val="accent4"/>
        </a:buClr>
        <a:buFont typeface="Wingdings 2"/>
        <a:buChar char=""/>
        <a:defRPr kumimoji="0" sz="21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13813" indent="-231402" algn="l" rtl="0" eaLnBrk="1" latinLnBrk="0" hangingPunct="1">
        <a:spcBef>
          <a:spcPts val="533"/>
        </a:spcBef>
        <a:buClr>
          <a:schemeClr val="accent4"/>
        </a:buClr>
        <a:buFont typeface="Wingdings 2"/>
        <a:buChar char=""/>
        <a:defRPr kumimoji="0" sz="21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557376" indent="-231402" algn="l" rtl="0" eaLnBrk="1" latinLnBrk="0" hangingPunct="1">
        <a:spcBef>
          <a:spcPts val="533"/>
        </a:spcBef>
        <a:buClr>
          <a:schemeClr val="accent4"/>
        </a:buClr>
        <a:buFont typeface="Wingdings 2"/>
        <a:buChar char=""/>
        <a:defRPr kumimoji="0" sz="21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608867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121782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826714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2435638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3044504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3653371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4262293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4871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14177" y="3716767"/>
            <a:ext cx="12192000" cy="1138646"/>
          </a:xfrm>
          <a:prstGeom prst="rect">
            <a:avLst/>
          </a:prstGeom>
          <a:noFill/>
        </p:spPr>
        <p:txBody>
          <a:bodyPr wrap="square" lIns="121794" tIns="60897" rIns="121794" bIns="60897" rtlCol="0">
            <a:spAutoFit/>
          </a:bodyPr>
          <a:lstStyle/>
          <a:p>
            <a:pPr marL="0" marR="0" lvl="0" indent="0" algn="ctr" defTabSz="121779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4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ผลและแผนการปฏิบัติงาน </a:t>
            </a:r>
            <a:r>
              <a:rPr lang="th-TH" sz="4800" b="1" dirty="0" err="1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ผสส</a:t>
            </a:r>
            <a:r>
              <a:rPr kumimoji="0" lang="th-TH" sz="4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.</a:t>
            </a:r>
            <a:r>
              <a:rPr kumimoji="0" lang="th-TH" sz="4800" b="1" i="0" u="none" strike="noStrike" kern="1200" cap="none" spc="0" normalizeH="0" baseline="0" noProof="0" dirty="0" err="1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อย</a:t>
            </a:r>
            <a:r>
              <a:rPr kumimoji="0" lang="th-TH" sz="4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.</a:t>
            </a:r>
            <a:endParaRPr kumimoji="0" lang="th-TH" sz="24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</p:txBody>
      </p:sp>
      <p:pic>
        <p:nvPicPr>
          <p:cNvPr id="5" name="Picture 2" descr="C:\Users\eak\Desktop\ตรา อย star new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3852" y="278039"/>
            <a:ext cx="4138645" cy="35866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272560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1696720" y="282064"/>
            <a:ext cx="8548716" cy="830906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4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ผล</a:t>
            </a:r>
            <a:r>
              <a:rPr lang="th-TH" sz="48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และ</a:t>
            </a:r>
            <a:r>
              <a:rPr kumimoji="0" lang="th-TH" sz="4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แผนการปฏิบัติงาน </a:t>
            </a:r>
            <a:r>
              <a:rPr lang="th-TH" sz="4800" b="1" dirty="0" err="1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ผสส.อย</a:t>
            </a:r>
            <a:r>
              <a:rPr lang="th-TH" sz="48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.</a:t>
            </a:r>
            <a:endParaRPr kumimoji="0" lang="th-TH" sz="4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</p:txBody>
      </p:sp>
      <p:pic>
        <p:nvPicPr>
          <p:cNvPr id="10" name="Picture 2" descr="C:\Users\eak\Desktop\ตรา อย star new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13"/>
            <a:ext cx="1696720" cy="1470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6">
            <a:extLst>
              <a:ext uri="{FF2B5EF4-FFF2-40B4-BE49-F238E27FC236}">
                <a16:creationId xmlns:a16="http://schemas.microsoft.com/office/drawing/2014/main" id="{340BF4EC-EF1C-944A-8985-10CF61401EB9}"/>
              </a:ext>
            </a:extLst>
          </p:cNvPr>
          <p:cNvSpPr txBox="1"/>
          <p:nvPr/>
        </p:nvSpPr>
        <p:spPr>
          <a:xfrm>
            <a:off x="1696720" y="1752475"/>
            <a:ext cx="6879672" cy="3477784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th-TH" sz="44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- ด้าน </a:t>
            </a:r>
            <a:r>
              <a:rPr lang="th-TH" sz="44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ปฏิบัติการสื่อสารยุทธวิธี</a:t>
            </a:r>
            <a:endParaRPr kumimoji="0" lang="th-TH" sz="44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th-TH" sz="44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- ด้าน </a:t>
            </a:r>
            <a:r>
              <a:rPr lang="th-TH" sz="44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พัสดุสายสื่อสารอิเล็กทรอนิกส์</a:t>
            </a:r>
            <a:endParaRPr kumimoji="0" lang="th-TH" sz="44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th-TH" sz="44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- ด้าน </a:t>
            </a:r>
            <a:r>
              <a:rPr lang="th-TH" sz="44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การซ่อมบำรุง</a:t>
            </a:r>
            <a:endParaRPr kumimoji="0" lang="th-TH" sz="44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44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- ด้าน </a:t>
            </a:r>
            <a:r>
              <a:rPr lang="th-TH" sz="44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การสนับสนุน</a:t>
            </a:r>
            <a:endParaRPr kumimoji="0" lang="th-TH" sz="44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44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956700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C7DF-AF2E-4C20-5177-AF006B91A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 descr="C:\Users\eak\Desktop\ตรา อย star new.png">
            <a:extLst>
              <a:ext uri="{FF2B5EF4-FFF2-40B4-BE49-F238E27FC236}">
                <a16:creationId xmlns:a16="http://schemas.microsoft.com/office/drawing/2014/main" id="{1E55F09C-9234-0F9D-CEDB-1C6ACD210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13"/>
            <a:ext cx="1696720" cy="1470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6">
            <a:extLst>
              <a:ext uri="{FF2B5EF4-FFF2-40B4-BE49-F238E27FC236}">
                <a16:creationId xmlns:a16="http://schemas.microsoft.com/office/drawing/2014/main" id="{1F47483F-A726-E433-6FBE-E59057E88FEF}"/>
              </a:ext>
            </a:extLst>
          </p:cNvPr>
          <p:cNvSpPr txBox="1"/>
          <p:nvPr/>
        </p:nvSpPr>
        <p:spPr>
          <a:xfrm>
            <a:off x="3927740" y="1362213"/>
            <a:ext cx="6879672" cy="1323348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36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ด้าน ปฏิบัติการ</a:t>
            </a:r>
            <a:r>
              <a:rPr lang="th-TH" sz="36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สื่อสารยุทธวิธี</a:t>
            </a:r>
            <a:endParaRPr kumimoji="0" lang="th-TH" sz="36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44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C08FA21-C512-E8AB-184E-DE549C6878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2514845"/>
              </p:ext>
            </p:extLst>
          </p:nvPr>
        </p:nvGraphicFramePr>
        <p:xfrm>
          <a:off x="364960" y="1966895"/>
          <a:ext cx="11443749" cy="3407948"/>
        </p:xfrm>
        <a:graphic>
          <a:graphicData uri="http://schemas.openxmlformats.org/drawingml/2006/table">
            <a:tbl>
              <a:tblPr/>
              <a:tblGrid>
                <a:gridCol w="1054818">
                  <a:extLst>
                    <a:ext uri="{9D8B030D-6E8A-4147-A177-3AD203B41FA5}">
                      <a16:colId xmlns:a16="http://schemas.microsoft.com/office/drawing/2014/main" val="4190556556"/>
                    </a:ext>
                  </a:extLst>
                </a:gridCol>
                <a:gridCol w="5605862">
                  <a:extLst>
                    <a:ext uri="{9D8B030D-6E8A-4147-A177-3AD203B41FA5}">
                      <a16:colId xmlns:a16="http://schemas.microsoft.com/office/drawing/2014/main" val="3816422527"/>
                    </a:ext>
                  </a:extLst>
                </a:gridCol>
                <a:gridCol w="1427381">
                  <a:extLst>
                    <a:ext uri="{9D8B030D-6E8A-4147-A177-3AD203B41FA5}">
                      <a16:colId xmlns:a16="http://schemas.microsoft.com/office/drawing/2014/main" val="3684625179"/>
                    </a:ext>
                  </a:extLst>
                </a:gridCol>
                <a:gridCol w="1032520">
                  <a:extLst>
                    <a:ext uri="{9D8B030D-6E8A-4147-A177-3AD203B41FA5}">
                      <a16:colId xmlns:a16="http://schemas.microsoft.com/office/drawing/2014/main" val="1124400286"/>
                    </a:ext>
                  </a:extLst>
                </a:gridCol>
                <a:gridCol w="1074584">
                  <a:extLst>
                    <a:ext uri="{9D8B030D-6E8A-4147-A177-3AD203B41FA5}">
                      <a16:colId xmlns:a16="http://schemas.microsoft.com/office/drawing/2014/main" val="2848671187"/>
                    </a:ext>
                  </a:extLst>
                </a:gridCol>
                <a:gridCol w="1248584">
                  <a:extLst>
                    <a:ext uri="{9D8B030D-6E8A-4147-A177-3AD203B41FA5}">
                      <a16:colId xmlns:a16="http://schemas.microsoft.com/office/drawing/2014/main" val="2382351669"/>
                    </a:ext>
                  </a:extLst>
                </a:gridCol>
              </a:tblGrid>
              <a:tr h="298234"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ลำดับ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ภารกิจ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วันที่ปฏิบัติ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grid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ผลการปฏิบัติงาน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หมายเหตุ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149321"/>
                  </a:ext>
                </a:extLst>
              </a:tr>
              <a:tr h="668306"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เรียบร้อย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ไม่เรียบร้อย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91617"/>
                  </a:ext>
                </a:extLst>
              </a:tr>
              <a:tr h="521155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ทำการทดสอบระบบวิทยุ </a:t>
                      </a:r>
                      <a:r>
                        <a:rPr kumimoji="0" lang="en-US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LTE 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ทุกวันอังคาร ณ 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ศยพ.ศ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ปก.ทอ.</a:t>
                      </a: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ทุกวันอังคาร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-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งด</a:t>
                      </a:r>
                      <a:r>
                        <a:rPr kumimoji="0" lang="th-TH" altLang="th-TH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ปฎิบัติ</a:t>
                      </a:r>
                      <a:r>
                        <a:rPr kumimoji="0" lang="th-TH" altLang="th-TH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ชั่วคราว </a:t>
                      </a:r>
                      <a:r>
                        <a:rPr kumimoji="0" lang="th-TH" altLang="th-TH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จนท</a:t>
                      </a:r>
                      <a:r>
                        <a:rPr kumimoji="0" lang="th-TH" altLang="th-TH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ไม่พอเพียง (มีสถานการณ์)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064891"/>
                  </a:ext>
                </a:extLst>
              </a:tr>
              <a:tr h="463811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๒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ตรวจสอบการใช้งานเครื่องมือสื่อสาร ในเขตพระราชฐาน พระตำหนักที่ประทับ ๙๐๔ ดอนเมือง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ทุกวันพุธ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907519"/>
                  </a:ext>
                </a:extLst>
              </a:tr>
              <a:tr h="488689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๓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รายงานสถานภาพกล้อง </a:t>
                      </a:r>
                      <a:r>
                        <a:rPr kumimoji="0" lang="en-US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CCTV 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ให้ 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ขว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.ทอ.</a:t>
                      </a: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ทุกวันราชการ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8642369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๔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จัด น.สัญญาบัตรเข้าร่วมประชุม กล้อง </a:t>
                      </a:r>
                      <a:r>
                        <a:rPr kumimoji="0" lang="en-US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CCTV 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ร่วมกับ 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ขว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.ทอ.</a:t>
                      </a: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th-TH" sz="2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H SarabunPSK" panose="020B0500040200020003" pitchFamily="34" charset="-34"/>
                          <a:ea typeface="+mn-ea"/>
                          <a:cs typeface="TH SarabunPSK" panose="020B0500040200020003" pitchFamily="34" charset="-34"/>
                        </a:rPr>
                        <a:t>ทุกวัน พฤหัสที่ ๓</a:t>
                      </a:r>
                    </a:p>
                    <a:p>
                      <a:pPr algn="ctr"/>
                      <a:r>
                        <a:rPr kumimoji="0" lang="th-TH" sz="2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H SarabunPSK" panose="020B0500040200020003" pitchFamily="34" charset="-34"/>
                          <a:ea typeface="+mn-ea"/>
                          <a:cs typeface="TH SarabunPSK" panose="020B0500040200020003" pitchFamily="34" charset="-34"/>
                        </a:rPr>
                        <a:t>ของเดือน</a:t>
                      </a:r>
                      <a:endParaRPr kumimoji="0" lang="en-US" sz="2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H SarabunPSK" panose="020B0500040200020003" pitchFamily="34" charset="-34"/>
                        <a:ea typeface="+mn-ea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  <a:p>
                      <a:endParaRPr lang="en-US" dirty="0"/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AD208C7-2884-C13E-806B-CBB184DB2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6967" y="3553241"/>
            <a:ext cx="585233" cy="6091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3367398-29BB-0BC5-0508-C03EDC115446}"/>
              </a:ext>
            </a:extLst>
          </p:cNvPr>
          <p:cNvSpPr txBox="1"/>
          <p:nvPr/>
        </p:nvSpPr>
        <p:spPr>
          <a:xfrm>
            <a:off x="1696720" y="389494"/>
            <a:ext cx="10174151" cy="830906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>
            <a:defPPr>
              <a:defRPr lang="th-TH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4800" b="1" i="0" u="none" strike="noStrike" cap="none" spc="0" normalizeH="0" baseline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cs typeface="TH SarabunPSK" pitchFamily="34" charset="-34"/>
              </a:defRPr>
            </a:lvl1pPr>
          </a:lstStyle>
          <a:p>
            <a:r>
              <a:rPr lang="th-TH" dirty="0"/>
              <a:t>ผลการปฏิบัติงาน ผสส.อย. ตั้งแต่</a:t>
            </a:r>
            <a:r>
              <a:rPr lang="en-US" dirty="0"/>
              <a:t> </a:t>
            </a:r>
            <a:r>
              <a:rPr lang="th-TH" dirty="0"/>
              <a:t>๑๕ ส.ค. – ๒๒ ก.ย. ๖๙</a:t>
            </a:r>
          </a:p>
        </p:txBody>
      </p:sp>
    </p:spTree>
    <p:extLst>
      <p:ext uri="{BB962C8B-B14F-4D97-AF65-F5344CB8AC3E}">
        <p14:creationId xmlns:p14="http://schemas.microsoft.com/office/powerpoint/2010/main" val="2780522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4AA93-4F8C-1403-5EB2-CCD8363A8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 descr="C:\Users\eak\Desktop\ตรา อย star new.png">
            <a:extLst>
              <a:ext uri="{FF2B5EF4-FFF2-40B4-BE49-F238E27FC236}">
                <a16:creationId xmlns:a16="http://schemas.microsoft.com/office/drawing/2014/main" id="{07938AE3-7D58-7E7E-C16E-DD18B22F0A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13"/>
            <a:ext cx="1696720" cy="1470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6">
            <a:extLst>
              <a:ext uri="{FF2B5EF4-FFF2-40B4-BE49-F238E27FC236}">
                <a16:creationId xmlns:a16="http://schemas.microsoft.com/office/drawing/2014/main" id="{C35DFEC7-1D6C-C9E0-A8BF-74F622CBE46C}"/>
              </a:ext>
            </a:extLst>
          </p:cNvPr>
          <p:cNvSpPr txBox="1"/>
          <p:nvPr/>
        </p:nvSpPr>
        <p:spPr>
          <a:xfrm>
            <a:off x="3662570" y="1357416"/>
            <a:ext cx="6879672" cy="1323348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36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ด้าน </a:t>
            </a:r>
            <a:r>
              <a:rPr lang="th-TH" sz="36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พัสดุสายสื่อสารอิเล็กทรอนิกส์</a:t>
            </a:r>
            <a:endParaRPr kumimoji="0" lang="th-TH" sz="36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44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D73B343-A4BE-84EE-E150-DEBC5896E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6776137"/>
              </p:ext>
            </p:extLst>
          </p:nvPr>
        </p:nvGraphicFramePr>
        <p:xfrm>
          <a:off x="293917" y="2061108"/>
          <a:ext cx="11519805" cy="3017608"/>
        </p:xfrm>
        <a:graphic>
          <a:graphicData uri="http://schemas.openxmlformats.org/drawingml/2006/table">
            <a:tbl>
              <a:tblPr/>
              <a:tblGrid>
                <a:gridCol w="1026827">
                  <a:extLst>
                    <a:ext uri="{9D8B030D-6E8A-4147-A177-3AD203B41FA5}">
                      <a16:colId xmlns:a16="http://schemas.microsoft.com/office/drawing/2014/main" val="4190556556"/>
                    </a:ext>
                  </a:extLst>
                </a:gridCol>
                <a:gridCol w="5321518">
                  <a:extLst>
                    <a:ext uri="{9D8B030D-6E8A-4147-A177-3AD203B41FA5}">
                      <a16:colId xmlns:a16="http://schemas.microsoft.com/office/drawing/2014/main" val="3816422527"/>
                    </a:ext>
                  </a:extLst>
                </a:gridCol>
                <a:gridCol w="1475034">
                  <a:extLst>
                    <a:ext uri="{9D8B030D-6E8A-4147-A177-3AD203B41FA5}">
                      <a16:colId xmlns:a16="http://schemas.microsoft.com/office/drawing/2014/main" val="3684625179"/>
                    </a:ext>
                  </a:extLst>
                </a:gridCol>
                <a:gridCol w="1265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545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154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51502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ลำดับ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ภารกิจ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วันที่ปฏิบัติ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grid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ผลการปฏิบัติงาน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เรียบร้อย    ไม่เรียบร้อย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หมายเหตุ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149321"/>
                  </a:ext>
                </a:extLst>
              </a:tr>
              <a:tr h="656877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ติดตามการซ่อมบำรุง 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คมส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</a:t>
                      </a: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ทุกวันศุกร์และวันก่อนการประชุม 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ฝอ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064891"/>
                  </a:ext>
                </a:extLst>
              </a:tr>
              <a:tr h="651517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๒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รายงานยอดสถานภาพ 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คมส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.ประจำเดือน ส่งให้ 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กกบ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บก.อย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 และ สอ.ทอ.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ตามสั่งการ รอง 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ผบ.อย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.(กบ.</a:t>
                      </a:r>
                      <a:r>
                        <a:rPr kumimoji="0" lang="en-US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,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กพ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.)และ คู่มือบริหารการซ่อมบำรุงฯ 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ภายในวันที่ ๕ และ๑๐ ของเดือน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907519"/>
                  </a:ext>
                </a:extLst>
              </a:tr>
              <a:tr h="651502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๓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รายงานยอดสถานภาพ 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คมส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.เขตพระราชฐาน พระตำหนักที่ประทับ ๙๐๔ หน่วยบินเดโชชัย ๓ ดอนเมือง ให้ ฝ่ายส่งกำลังบำรุง 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ศปก.อย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 เพื่อรายงานให้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กกบ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.ฉก.ทม.รอ.๙๐๔</a:t>
                      </a: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ภายในวันที่ ๑๐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ของเดือน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864236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D4376E9-146D-B689-20A1-059C6A124A17}"/>
              </a:ext>
            </a:extLst>
          </p:cNvPr>
          <p:cNvSpPr txBox="1"/>
          <p:nvPr/>
        </p:nvSpPr>
        <p:spPr>
          <a:xfrm>
            <a:off x="1696719" y="320665"/>
            <a:ext cx="10174151" cy="830906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>
            <a:defPPr>
              <a:defRPr lang="th-TH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4800" b="1" i="0" u="none" strike="noStrike" cap="none" spc="0" normalizeH="0" baseline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cs typeface="TH SarabunPSK" pitchFamily="34" charset="-34"/>
              </a:defRPr>
            </a:lvl1pPr>
          </a:lstStyle>
          <a:p>
            <a:r>
              <a:rPr lang="th-TH" dirty="0"/>
              <a:t>ผลการปฏิบัติงาน ผสส.อย. ตั้งแต่</a:t>
            </a:r>
            <a:r>
              <a:rPr lang="en-US" dirty="0"/>
              <a:t> </a:t>
            </a:r>
            <a:r>
              <a:rPr lang="th-TH" dirty="0"/>
              <a:t>๑๕ ส.ค. – ๒๒ ก.ย. ๖๙</a:t>
            </a:r>
          </a:p>
        </p:txBody>
      </p:sp>
    </p:spTree>
    <p:extLst>
      <p:ext uri="{BB962C8B-B14F-4D97-AF65-F5344CB8AC3E}">
        <p14:creationId xmlns:p14="http://schemas.microsoft.com/office/powerpoint/2010/main" val="70959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BB85F4-89CB-B9F4-70C9-B15CBDCF3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 descr="C:\Users\eak\Desktop\ตรา อย star new.png">
            <a:extLst>
              <a:ext uri="{FF2B5EF4-FFF2-40B4-BE49-F238E27FC236}">
                <a16:creationId xmlns:a16="http://schemas.microsoft.com/office/drawing/2014/main" id="{BE0B6DE9-8C71-1463-342D-B4629BC1EB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13"/>
            <a:ext cx="1696720" cy="1470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6">
            <a:extLst>
              <a:ext uri="{FF2B5EF4-FFF2-40B4-BE49-F238E27FC236}">
                <a16:creationId xmlns:a16="http://schemas.microsoft.com/office/drawing/2014/main" id="{98FB4E24-21B2-B798-D03C-EC35A9261F3E}"/>
              </a:ext>
            </a:extLst>
          </p:cNvPr>
          <p:cNvSpPr txBox="1"/>
          <p:nvPr/>
        </p:nvSpPr>
        <p:spPr>
          <a:xfrm>
            <a:off x="5048959" y="1364176"/>
            <a:ext cx="6879672" cy="646240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36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ด้าน </a:t>
            </a:r>
            <a:r>
              <a:rPr lang="th-TH" sz="36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การซ่อมบำรุง</a:t>
            </a:r>
            <a:endParaRPr kumimoji="0" lang="th-TH" sz="44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9A3F435-BE46-6B1C-1DCF-CC919C9F7D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0420255"/>
              </p:ext>
            </p:extLst>
          </p:nvPr>
        </p:nvGraphicFramePr>
        <p:xfrm>
          <a:off x="457200" y="2055795"/>
          <a:ext cx="11351509" cy="4577394"/>
        </p:xfrm>
        <a:graphic>
          <a:graphicData uri="http://schemas.openxmlformats.org/drawingml/2006/table">
            <a:tbl>
              <a:tblPr/>
              <a:tblGrid>
                <a:gridCol w="1046315">
                  <a:extLst>
                    <a:ext uri="{9D8B030D-6E8A-4147-A177-3AD203B41FA5}">
                      <a16:colId xmlns:a16="http://schemas.microsoft.com/office/drawing/2014/main" val="4190556556"/>
                    </a:ext>
                  </a:extLst>
                </a:gridCol>
                <a:gridCol w="5422509">
                  <a:extLst>
                    <a:ext uri="{9D8B030D-6E8A-4147-A177-3AD203B41FA5}">
                      <a16:colId xmlns:a16="http://schemas.microsoft.com/office/drawing/2014/main" val="3816422527"/>
                    </a:ext>
                  </a:extLst>
                </a:gridCol>
                <a:gridCol w="1554044">
                  <a:extLst>
                    <a:ext uri="{9D8B030D-6E8A-4147-A177-3AD203B41FA5}">
                      <a16:colId xmlns:a16="http://schemas.microsoft.com/office/drawing/2014/main" val="3684625179"/>
                    </a:ext>
                  </a:extLst>
                </a:gridCol>
                <a:gridCol w="1024198">
                  <a:extLst>
                    <a:ext uri="{9D8B030D-6E8A-4147-A177-3AD203B41FA5}">
                      <a16:colId xmlns:a16="http://schemas.microsoft.com/office/drawing/2014/main" val="1124400286"/>
                    </a:ext>
                  </a:extLst>
                </a:gridCol>
                <a:gridCol w="1065923">
                  <a:extLst>
                    <a:ext uri="{9D8B030D-6E8A-4147-A177-3AD203B41FA5}">
                      <a16:colId xmlns:a16="http://schemas.microsoft.com/office/drawing/2014/main" val="2848671187"/>
                    </a:ext>
                  </a:extLst>
                </a:gridCol>
                <a:gridCol w="1238520">
                  <a:extLst>
                    <a:ext uri="{9D8B030D-6E8A-4147-A177-3AD203B41FA5}">
                      <a16:colId xmlns:a16="http://schemas.microsoft.com/office/drawing/2014/main" val="2382351669"/>
                    </a:ext>
                  </a:extLst>
                </a:gridCol>
              </a:tblGrid>
              <a:tr h="298234"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ลำดับ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ภารกิจ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วันที่ปฏิบัติ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grid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ผลการปฏิบัติงาน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หมายเหตุ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149321"/>
                  </a:ext>
                </a:extLst>
              </a:tr>
              <a:tr h="668306"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เรียบร้อย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ไม่เรียบร้อย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91617"/>
                  </a:ext>
                </a:extLst>
              </a:tr>
              <a:tr h="521155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ทำ </a:t>
                      </a:r>
                      <a:r>
                        <a:rPr kumimoji="0" lang="en-US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PMI 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คมส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.และ ชาร์จแบตเตอรี่</a:t>
                      </a: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ทุกวันศุกร์สัปดาห์ที่ ๒ และ๔ ของเดือน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064891"/>
                  </a:ext>
                </a:extLst>
              </a:tr>
              <a:tr h="463811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907519"/>
                  </a:ext>
                </a:extLst>
              </a:tr>
              <a:tr h="488689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8642369"/>
                  </a:ext>
                </a:extLst>
              </a:tr>
              <a:tr h="520700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2873443"/>
                  </a:ext>
                </a:extLst>
              </a:tr>
              <a:tr h="463811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4855540"/>
                  </a:ext>
                </a:extLst>
              </a:tr>
              <a:tr h="463811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0618273"/>
                  </a:ext>
                </a:extLst>
              </a:tr>
              <a:tr h="456678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012311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82253AD-0CBB-91B2-2803-F9132928F6F0}"/>
              </a:ext>
            </a:extLst>
          </p:cNvPr>
          <p:cNvSpPr txBox="1"/>
          <p:nvPr/>
        </p:nvSpPr>
        <p:spPr>
          <a:xfrm>
            <a:off x="1696719" y="320665"/>
            <a:ext cx="10174151" cy="830906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>
            <a:defPPr>
              <a:defRPr lang="th-TH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4800" b="1" i="0" u="none" strike="noStrike" cap="none" spc="0" normalizeH="0" baseline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cs typeface="TH SarabunPSK" pitchFamily="34" charset="-34"/>
              </a:defRPr>
            </a:lvl1pPr>
          </a:lstStyle>
          <a:p>
            <a:r>
              <a:rPr lang="th-TH" dirty="0"/>
              <a:t>ผลการปฏิบัติงาน ผสส.อย. ตั้งแต่</a:t>
            </a:r>
            <a:r>
              <a:rPr lang="en-US" dirty="0"/>
              <a:t> </a:t>
            </a:r>
            <a:r>
              <a:rPr lang="th-TH" dirty="0"/>
              <a:t>๑๕ ส.ค. – ๒๒ ก.ย. ๖๙</a:t>
            </a:r>
          </a:p>
        </p:txBody>
      </p:sp>
    </p:spTree>
    <p:extLst>
      <p:ext uri="{BB962C8B-B14F-4D97-AF65-F5344CB8AC3E}">
        <p14:creationId xmlns:p14="http://schemas.microsoft.com/office/powerpoint/2010/main" val="2753610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D19C0-BB0C-53B8-C2D2-2EEACA482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 descr="C:\Users\eak\Desktop\ตรา อย star new.png">
            <a:extLst>
              <a:ext uri="{FF2B5EF4-FFF2-40B4-BE49-F238E27FC236}">
                <a16:creationId xmlns:a16="http://schemas.microsoft.com/office/drawing/2014/main" id="{81406C49-DB47-493F-2056-02755D2C36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13"/>
            <a:ext cx="1696720" cy="1470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6">
            <a:extLst>
              <a:ext uri="{FF2B5EF4-FFF2-40B4-BE49-F238E27FC236}">
                <a16:creationId xmlns:a16="http://schemas.microsoft.com/office/drawing/2014/main" id="{A4C8AC99-E1B0-4E17-84BF-E7A05AACA3C0}"/>
              </a:ext>
            </a:extLst>
          </p:cNvPr>
          <p:cNvSpPr txBox="1"/>
          <p:nvPr/>
        </p:nvSpPr>
        <p:spPr>
          <a:xfrm>
            <a:off x="3282041" y="1551130"/>
            <a:ext cx="7143752" cy="1015572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60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cs typeface="TH SarabunPSK" pitchFamily="34" charset="-34"/>
              </a:rPr>
              <a:t>ด้าน </a:t>
            </a:r>
            <a:r>
              <a:rPr lang="th-TH" sz="60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การสนับสนุน </a:t>
            </a:r>
            <a:endParaRPr kumimoji="0" lang="th-TH" sz="60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cs typeface="TH SarabunPSK" pitchFamily="34" charset="-34"/>
            </a:endParaRP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A4C8AC99-E1B0-4E17-84BF-E7A05AACA3C0}"/>
              </a:ext>
            </a:extLst>
          </p:cNvPr>
          <p:cNvSpPr txBox="1"/>
          <p:nvPr/>
        </p:nvSpPr>
        <p:spPr>
          <a:xfrm>
            <a:off x="89808" y="2566702"/>
            <a:ext cx="11936186" cy="3785561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th-TH" sz="60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สนับสนุน จนท.ควบคุมห้องประชุม จำนวน </a:t>
            </a:r>
            <a:r>
              <a:rPr lang="th-TH" sz="6000" b="1" dirty="0">
                <a:solidFill>
                  <a:srgbClr val="FF00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๕๐</a:t>
            </a:r>
            <a:r>
              <a:rPr lang="th-TH" sz="60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 ครั้ง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60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cs typeface="TH SarabunPSK" pitchFamily="34" charset="-34"/>
              </a:rPr>
              <a:t>สนับสนุน</a:t>
            </a:r>
            <a:r>
              <a:rPr kumimoji="0" lang="th-TH" sz="6000" b="1" i="0" u="none" strike="noStrike" kern="1200" cap="none" spc="0" normalizeH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cs typeface="TH SarabunPSK" pitchFamily="34" charset="-34"/>
              </a:rPr>
              <a:t> จนท.และจัดเครื่องขยายเสียง จำนวน </a:t>
            </a:r>
            <a:r>
              <a:rPr lang="th-TH" sz="6000" b="1" noProof="0" dirty="0">
                <a:solidFill>
                  <a:srgbClr val="FF00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๓๒</a:t>
            </a:r>
            <a:r>
              <a:rPr lang="th-TH" sz="60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 </a:t>
            </a:r>
            <a:r>
              <a:rPr kumimoji="0" lang="th-TH" sz="6000" b="1" i="0" u="none" strike="noStrike" kern="1200" cap="none" spc="0" normalizeH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cs typeface="TH SarabunPSK" pitchFamily="34" charset="-34"/>
              </a:rPr>
              <a:t>ครั้ง</a:t>
            </a:r>
          </a:p>
          <a:p>
            <a:pPr lvl="0">
              <a:defRPr/>
            </a:pPr>
            <a:r>
              <a:rPr kumimoji="0" lang="th-TH" sz="60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cs typeface="TH SarabunPSK" pitchFamily="34" charset="-34"/>
              </a:rPr>
              <a:t>สนับสนุน อาจารย์ผู้บรรยาย (</a:t>
            </a:r>
            <a:r>
              <a:rPr kumimoji="0" lang="th-TH" sz="6000" b="1" i="0" u="none" strike="noStrike" kern="1200" cap="none" spc="0" normalizeH="0" baseline="0" noProof="0" dirty="0" err="1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cs typeface="TH SarabunPSK" pitchFamily="34" charset="-34"/>
              </a:rPr>
              <a:t>ศทย</a:t>
            </a:r>
            <a:r>
              <a:rPr kumimoji="0" lang="th-TH" sz="60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cs typeface="TH SarabunPSK" pitchFamily="34" charset="-34"/>
              </a:rPr>
              <a:t>.)  </a:t>
            </a:r>
            <a:r>
              <a:rPr lang="th-TH" sz="60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จำนวน - ครั้ง</a:t>
            </a:r>
            <a:endParaRPr kumimoji="0" lang="th-TH" sz="36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cs typeface="TH SarabunPSK" pitchFamily="34" charset="-34"/>
            </a:endParaRPr>
          </a:p>
          <a:p>
            <a:pPr lvl="0">
              <a:defRPr/>
            </a:pPr>
            <a:r>
              <a:rPr lang="th-TH" sz="60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สนับสนุน จนท.เข้ารับการอบรมและฟังบรรยาย - ครั้ง</a:t>
            </a:r>
            <a:endParaRPr kumimoji="0" lang="th-TH" sz="60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cs typeface="TH SarabunPSK" pitchFamily="34" charset="-34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F2D17D-5DE3-1628-A5C5-712DA6A42B11}"/>
              </a:ext>
            </a:extLst>
          </p:cNvPr>
          <p:cNvSpPr txBox="1"/>
          <p:nvPr/>
        </p:nvSpPr>
        <p:spPr>
          <a:xfrm>
            <a:off x="1696719" y="320665"/>
            <a:ext cx="10174151" cy="830906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>
            <a:defPPr>
              <a:defRPr lang="th-TH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4800" b="1" i="0" u="none" strike="noStrike" cap="none" spc="0" normalizeH="0" baseline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cs typeface="TH SarabunPSK" pitchFamily="34" charset="-34"/>
              </a:defRPr>
            </a:lvl1pPr>
          </a:lstStyle>
          <a:p>
            <a:r>
              <a:rPr lang="th-TH" dirty="0"/>
              <a:t>ผลการปฏิบัติงาน ผสส.อย. ตั้งแต่</a:t>
            </a:r>
            <a:r>
              <a:rPr lang="en-US" dirty="0"/>
              <a:t> </a:t>
            </a:r>
            <a:r>
              <a:rPr lang="th-TH" dirty="0"/>
              <a:t>๑๕ ส.ค. – ๒๒ ก.ย. ๖๙</a:t>
            </a:r>
          </a:p>
        </p:txBody>
      </p:sp>
    </p:spTree>
    <p:extLst>
      <p:ext uri="{BB962C8B-B14F-4D97-AF65-F5344CB8AC3E}">
        <p14:creationId xmlns:p14="http://schemas.microsoft.com/office/powerpoint/2010/main" val="2309963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9C97B-71C0-DC94-0FFD-74F0AC541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 descr="C:\Users\eak\Desktop\ตรา อย star new.png">
            <a:extLst>
              <a:ext uri="{FF2B5EF4-FFF2-40B4-BE49-F238E27FC236}">
                <a16:creationId xmlns:a16="http://schemas.microsoft.com/office/drawing/2014/main" id="{8858C421-AED4-1F89-47B0-48D80AE92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13"/>
            <a:ext cx="1696720" cy="1470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6">
            <a:extLst>
              <a:ext uri="{FF2B5EF4-FFF2-40B4-BE49-F238E27FC236}">
                <a16:creationId xmlns:a16="http://schemas.microsoft.com/office/drawing/2014/main" id="{417FCFD1-F711-47B6-F596-DDD1B7163FF4}"/>
              </a:ext>
            </a:extLst>
          </p:cNvPr>
          <p:cNvSpPr txBox="1"/>
          <p:nvPr/>
        </p:nvSpPr>
        <p:spPr>
          <a:xfrm>
            <a:off x="5312328" y="1394121"/>
            <a:ext cx="6879672" cy="1323348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36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ด้าน </a:t>
            </a:r>
            <a:r>
              <a:rPr lang="th-TH" sz="36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การสนับสนุน</a:t>
            </a:r>
            <a:endParaRPr kumimoji="0" lang="th-TH" sz="36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44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DFC0AEC-BED6-1B23-224C-9017DF0EE8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0170160"/>
              </p:ext>
            </p:extLst>
          </p:nvPr>
        </p:nvGraphicFramePr>
        <p:xfrm>
          <a:off x="247650" y="2055795"/>
          <a:ext cx="11696700" cy="4723685"/>
        </p:xfrm>
        <a:graphic>
          <a:graphicData uri="http://schemas.openxmlformats.org/drawingml/2006/table">
            <a:tbl>
              <a:tblPr/>
              <a:tblGrid>
                <a:gridCol w="1119491">
                  <a:extLst>
                    <a:ext uri="{9D8B030D-6E8A-4147-A177-3AD203B41FA5}">
                      <a16:colId xmlns:a16="http://schemas.microsoft.com/office/drawing/2014/main" val="4190556556"/>
                    </a:ext>
                  </a:extLst>
                </a:gridCol>
                <a:gridCol w="5546044">
                  <a:extLst>
                    <a:ext uri="{9D8B030D-6E8A-4147-A177-3AD203B41FA5}">
                      <a16:colId xmlns:a16="http://schemas.microsoft.com/office/drawing/2014/main" val="3816422527"/>
                    </a:ext>
                  </a:extLst>
                </a:gridCol>
                <a:gridCol w="1601302">
                  <a:extLst>
                    <a:ext uri="{9D8B030D-6E8A-4147-A177-3AD203B41FA5}">
                      <a16:colId xmlns:a16="http://schemas.microsoft.com/office/drawing/2014/main" val="3684625179"/>
                    </a:ext>
                  </a:extLst>
                </a:gridCol>
                <a:gridCol w="1055342">
                  <a:extLst>
                    <a:ext uri="{9D8B030D-6E8A-4147-A177-3AD203B41FA5}">
                      <a16:colId xmlns:a16="http://schemas.microsoft.com/office/drawing/2014/main" val="1124400286"/>
                    </a:ext>
                  </a:extLst>
                </a:gridCol>
                <a:gridCol w="1098338">
                  <a:extLst>
                    <a:ext uri="{9D8B030D-6E8A-4147-A177-3AD203B41FA5}">
                      <a16:colId xmlns:a16="http://schemas.microsoft.com/office/drawing/2014/main" val="2848671187"/>
                    </a:ext>
                  </a:extLst>
                </a:gridCol>
                <a:gridCol w="1276183">
                  <a:extLst>
                    <a:ext uri="{9D8B030D-6E8A-4147-A177-3AD203B41FA5}">
                      <a16:colId xmlns:a16="http://schemas.microsoft.com/office/drawing/2014/main" val="2382351669"/>
                    </a:ext>
                  </a:extLst>
                </a:gridCol>
              </a:tblGrid>
              <a:tr h="261461"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ลำดับ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ภารกิจ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วันที่ปฏิบัติ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grid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ผลการปฏิบัติงาน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หมายเหตุ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149321"/>
                  </a:ext>
                </a:extLst>
              </a:tr>
              <a:tr h="304329"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เรียบร้อย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ไม่เรียบร้อย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91617"/>
                  </a:ext>
                </a:extLst>
              </a:tr>
              <a:tr h="474901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</a:t>
                      </a:r>
                      <a:endParaRPr kumimoji="0" lang="en-US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สนับสนุน จนท.ควบคุมห้องประชุม </a:t>
                      </a:r>
                      <a:r>
                        <a:rPr kumimoji="0" lang="th-TH" altLang="th-TH" sz="1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ศป</a:t>
                      </a:r>
                      <a:r>
                        <a:rPr kumimoji="0" lang="th-TH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ก.อย.เขตพระราชฐาน พระตำหนักที่ประทับ ๙๐๔ ดอนเมือง</a:t>
                      </a: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ทุกวัน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h-TH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เวลา ๐๗๐๐ 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th-TH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รวม </a:t>
                      </a:r>
                      <a:r>
                        <a:rPr kumimoji="0" lang="th-TH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๓๙</a:t>
                      </a:r>
                      <a:r>
                        <a:rPr kumimoji="0" lang="th-TH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 ครั้ง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064891"/>
                  </a:ext>
                </a:extLst>
              </a:tr>
              <a:tr h="598341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๒</a:t>
                      </a:r>
                      <a:endParaRPr kumimoji="0" lang="en-US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สนับสนุน จนท.จัดเครื่องเสียงเคารพธงชาติ </a:t>
                      </a:r>
                      <a:endParaRPr kumimoji="0" lang="en-US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ทุกวันราชการ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h-TH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เวลา ๐๗๓๐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รวม </a:t>
                      </a:r>
                      <a:r>
                        <a:rPr kumimoji="0" lang="th-TH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๒๗</a:t>
                      </a:r>
                      <a:r>
                        <a:rPr kumimoji="0" lang="th-TH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 ครั้ง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907519"/>
                  </a:ext>
                </a:extLst>
              </a:tr>
              <a:tr h="474890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๓</a:t>
                      </a:r>
                      <a:endParaRPr kumimoji="0" lang="en-US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สนับสนุน จนท.ควบคุมอุปกรณ์สื่อสารในภารกิจ ประชุมฝ่ายอำนวยการ อย.ครั้งที่ ๘/๖๙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434343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๑๔ ส.ค.๖๙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th-TH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  <a:endParaRPr kumimoji="0" lang="en-US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8642369"/>
                  </a:ext>
                </a:extLst>
              </a:tr>
              <a:tr h="433528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๔</a:t>
                      </a:r>
                      <a:endParaRPr kumimoji="0" lang="en-US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จัด จนท.ควบคุมและอุปกรณ์สื่อสารในภารกิจ ทดสอบสมรรถภาพทางกายกำลังพล บก.อย.ปี ๖๙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434343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๑๔ ส.ค.๖๙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th-TH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2873443"/>
                  </a:ext>
                </a:extLst>
              </a:tr>
              <a:tr h="474890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๕</a:t>
                      </a:r>
                      <a:endParaRPr kumimoji="0" lang="en-US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จัด จนท.ควบคุมและอุปกรณ์สื่อสารในภารกิจ การแข่งขันกีฬา อย.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434343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๑๗ - ๒๑ ส.ค.๖๙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1800" b="0" i="0" u="none" strike="noStrike" kern="1200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H SarabunPSK" panose="020B0500040200020003" pitchFamily="34" charset="-34"/>
                        <a:ea typeface="+mn-ea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4855540"/>
                  </a:ext>
                </a:extLst>
              </a:tr>
              <a:tr h="47489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๖</a:t>
                      </a:r>
                      <a:endParaRPr kumimoji="0" lang="en-US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จัด จนท.ควบคุมและอุปกรณ์สื่อสารในภารกิจ โครงการดูแลเพื่อนชาวทหารอากาศ ให้ห่างไกลจากโรคต้อหิน และเบาหวานขึ้นจอประสาทตา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434343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๑๘ ส.ค.๖๙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1800" b="0" i="0" u="none" strike="noStrike" kern="1200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H SarabunPSK" panose="020B0500040200020003" pitchFamily="34" charset="-34"/>
                        <a:ea typeface="+mn-ea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84705"/>
                  </a:ext>
                </a:extLst>
              </a:tr>
              <a:tr h="47489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๗</a:t>
                      </a:r>
                      <a:endParaRPr kumimoji="0" lang="en-US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สนับสนุน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 </a:t>
                      </a:r>
                      <a:r>
                        <a:rPr 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จนท.ควบคุมอุปกรณ์สื่อสารในภารกิจ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 </a:t>
                      </a:r>
                      <a:r>
                        <a:rPr 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อย.ประชุมเตรียมการตรวจสอบความพร้อมรบ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 </a:t>
                      </a:r>
                      <a:r>
                        <a:rPr 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และทดสอบแผนป้องกันที่ตั้งหน่วย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 </a:t>
                      </a:r>
                      <a:r>
                        <a:rPr 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ทอ.ณ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 </a:t>
                      </a:r>
                      <a:r>
                        <a:rPr 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ที่ตั้งดอนเมือง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 </a:t>
                      </a:r>
                      <a:r>
                        <a:rPr 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ประจำปีงบประมาณ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 ๖๙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434343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๒๐ ส.ค.๖๙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th-TH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1800" b="0" i="0" u="none" strike="noStrike" kern="1200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H SarabunPSK" panose="020B0500040200020003" pitchFamily="34" charset="-34"/>
                        <a:ea typeface="+mn-ea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33325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5AB0A75-7DAB-6B3C-DC8F-28FAB9A0E27F}"/>
              </a:ext>
            </a:extLst>
          </p:cNvPr>
          <p:cNvSpPr txBox="1"/>
          <p:nvPr/>
        </p:nvSpPr>
        <p:spPr>
          <a:xfrm>
            <a:off x="1696719" y="320665"/>
            <a:ext cx="10174151" cy="830906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>
            <a:defPPr>
              <a:defRPr lang="th-TH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4800" b="1" i="0" u="none" strike="noStrike" cap="none" spc="0" normalizeH="0" baseline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cs typeface="TH SarabunPSK" pitchFamily="34" charset="-34"/>
              </a:defRPr>
            </a:lvl1pPr>
          </a:lstStyle>
          <a:p>
            <a:r>
              <a:rPr lang="th-TH" dirty="0"/>
              <a:t>ผลการปฏิบัติงาน ผสส.อย. ตั้งแต่</a:t>
            </a:r>
            <a:r>
              <a:rPr lang="en-US" dirty="0"/>
              <a:t> </a:t>
            </a:r>
            <a:r>
              <a:rPr lang="th-TH" dirty="0"/>
              <a:t>๑๕ ส.ค. – ๒๒ ก.ย. ๖๙</a:t>
            </a:r>
          </a:p>
        </p:txBody>
      </p:sp>
    </p:spTree>
    <p:extLst>
      <p:ext uri="{BB962C8B-B14F-4D97-AF65-F5344CB8AC3E}">
        <p14:creationId xmlns:p14="http://schemas.microsoft.com/office/powerpoint/2010/main" val="8955763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49D05-BBA0-2723-F0FC-A9FCB823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 descr="C:\Users\eak\Desktop\ตรา อย star new.png">
            <a:extLst>
              <a:ext uri="{FF2B5EF4-FFF2-40B4-BE49-F238E27FC236}">
                <a16:creationId xmlns:a16="http://schemas.microsoft.com/office/drawing/2014/main" id="{8E2007DD-E7B6-F53F-6800-8D401E7610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13"/>
            <a:ext cx="1696720" cy="1470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6">
            <a:extLst>
              <a:ext uri="{FF2B5EF4-FFF2-40B4-BE49-F238E27FC236}">
                <a16:creationId xmlns:a16="http://schemas.microsoft.com/office/drawing/2014/main" id="{5218588F-8BAB-C510-CE66-A30613482A23}"/>
              </a:ext>
            </a:extLst>
          </p:cNvPr>
          <p:cNvSpPr txBox="1"/>
          <p:nvPr/>
        </p:nvSpPr>
        <p:spPr>
          <a:xfrm>
            <a:off x="5312328" y="1394121"/>
            <a:ext cx="6879672" cy="1323348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36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ด้าน </a:t>
            </a:r>
            <a:r>
              <a:rPr lang="th-TH" sz="36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การสนับสนุน</a:t>
            </a:r>
            <a:endParaRPr kumimoji="0" lang="th-TH" sz="36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44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68A08E9-4CB7-3E86-D1EF-D1B22B4021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307532"/>
              </p:ext>
            </p:extLst>
          </p:nvPr>
        </p:nvGraphicFramePr>
        <p:xfrm>
          <a:off x="247650" y="2055795"/>
          <a:ext cx="11696700" cy="4517560"/>
        </p:xfrm>
        <a:graphic>
          <a:graphicData uri="http://schemas.openxmlformats.org/drawingml/2006/table">
            <a:tbl>
              <a:tblPr/>
              <a:tblGrid>
                <a:gridCol w="1112274">
                  <a:extLst>
                    <a:ext uri="{9D8B030D-6E8A-4147-A177-3AD203B41FA5}">
                      <a16:colId xmlns:a16="http://schemas.microsoft.com/office/drawing/2014/main" val="4190556556"/>
                    </a:ext>
                  </a:extLst>
                </a:gridCol>
                <a:gridCol w="5553261">
                  <a:extLst>
                    <a:ext uri="{9D8B030D-6E8A-4147-A177-3AD203B41FA5}">
                      <a16:colId xmlns:a16="http://schemas.microsoft.com/office/drawing/2014/main" val="3816422527"/>
                    </a:ext>
                  </a:extLst>
                </a:gridCol>
                <a:gridCol w="1601302">
                  <a:extLst>
                    <a:ext uri="{9D8B030D-6E8A-4147-A177-3AD203B41FA5}">
                      <a16:colId xmlns:a16="http://schemas.microsoft.com/office/drawing/2014/main" val="3684625179"/>
                    </a:ext>
                  </a:extLst>
                </a:gridCol>
                <a:gridCol w="1055342">
                  <a:extLst>
                    <a:ext uri="{9D8B030D-6E8A-4147-A177-3AD203B41FA5}">
                      <a16:colId xmlns:a16="http://schemas.microsoft.com/office/drawing/2014/main" val="1124400286"/>
                    </a:ext>
                  </a:extLst>
                </a:gridCol>
                <a:gridCol w="1098338">
                  <a:extLst>
                    <a:ext uri="{9D8B030D-6E8A-4147-A177-3AD203B41FA5}">
                      <a16:colId xmlns:a16="http://schemas.microsoft.com/office/drawing/2014/main" val="2848671187"/>
                    </a:ext>
                  </a:extLst>
                </a:gridCol>
                <a:gridCol w="1276183">
                  <a:extLst>
                    <a:ext uri="{9D8B030D-6E8A-4147-A177-3AD203B41FA5}">
                      <a16:colId xmlns:a16="http://schemas.microsoft.com/office/drawing/2014/main" val="2382351669"/>
                    </a:ext>
                  </a:extLst>
                </a:gridCol>
              </a:tblGrid>
              <a:tr h="261461"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ลำดับ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ภารกิจ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วันที่ปฏิบัติ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grid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ผลการปฏิบัติงาน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หมายเหตุ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149321"/>
                  </a:ext>
                </a:extLst>
              </a:tr>
              <a:tr h="304329"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เรียบร้อย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ไม่เรียบร้อย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91617"/>
                  </a:ext>
                </a:extLst>
              </a:tr>
              <a:tr h="474901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๘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สนับสนุน จนท.ควบคุมอุปกรณ์สื่อสารในภารกิจ ประชุมเตรียมความพร้อมชี้แจงขอตั้งและเปลี่ยนแปลงอัตราจ่ายยานพาหนะสายขนส่ง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434343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๒๐ ส.ค.๖๙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th-TH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064891"/>
                  </a:ext>
                </a:extLst>
              </a:tr>
              <a:tr h="474890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๙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สนับสนุน จนท.ควบคุมอุปกรณ์สื่อสารในภารกิจ อย.ประชุมหารือการลงเวลามาปฏิบัติงาน และการลาด้วยเครื่องมืออิเล็กทรอนิกส์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434343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๒๐ ส.ค.๖๙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th-TH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907519"/>
                  </a:ext>
                </a:extLst>
              </a:tr>
              <a:tr h="509665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๑๐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สนับสนุน จนท.ควบคุมอุปกรณ์สื่อสารในภารกิจ อย.ประชุมเตรียมจัดสรรงบฝึกยุทธวิธี ปี ๗๐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434343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๒๐ ส.ค.๖๙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th-TH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8642369"/>
                  </a:ext>
                </a:extLst>
              </a:tr>
              <a:tr h="433528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๑๑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สนับสนุน จนท.ควบคุมอุปกรณ์สื่อสารในภารกิจ อย.จัดกิจกรรมทำบุญตักบาตร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434343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๒๕ ส.ค.๖๙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2873443"/>
                  </a:ext>
                </a:extLst>
              </a:tr>
              <a:tr h="333529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๑๒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สนับสนุน จนท.ควบคุมอุปกรณ์สื่อสารในภารกิจ ประชุม อย.ครั้งที่ ๙/๖๙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434343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๒๘ ส.ค.๖๙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1400" b="0" i="0" u="none" strike="noStrike" kern="1200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H SarabunPSK" panose="020B0500040200020003" pitchFamily="34" charset="-34"/>
                        <a:ea typeface="+mn-ea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4855540"/>
                  </a:ext>
                </a:extLst>
              </a:tr>
              <a:tr h="474890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๑๓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สนับสนุน จนท.ควบคุมอุปกรณ์สื่อสารในภารกิจ ฝึกซ้อมป้องกันภัยทางอากาศ ณ สปภอ.ศยพ.ศปก.ทอ. 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434343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๓ ก.ย.๖๙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4075717"/>
                  </a:ext>
                </a:extLst>
              </a:tr>
              <a:tr h="47489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๑๔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สนับสนุน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 </a:t>
                      </a:r>
                      <a:r>
                        <a:rPr 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จนท.ควบคุมอุปกรณ์สื่อสารในภารกิจ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 </a:t>
                      </a:r>
                      <a:r>
                        <a:rPr 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ประชุมแนวความคิดการฎิบัติการพิเศษ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434343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๓ ก.ย.๖๙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025325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461BEE2-E7D1-E2B4-C6A8-E3080199690E}"/>
              </a:ext>
            </a:extLst>
          </p:cNvPr>
          <p:cNvSpPr txBox="1"/>
          <p:nvPr/>
        </p:nvSpPr>
        <p:spPr>
          <a:xfrm>
            <a:off x="1696719" y="320665"/>
            <a:ext cx="10174151" cy="830906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>
            <a:defPPr>
              <a:defRPr lang="th-TH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4800" b="1" i="0" u="none" strike="noStrike" cap="none" spc="0" normalizeH="0" baseline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cs typeface="TH SarabunPSK" pitchFamily="34" charset="-34"/>
              </a:defRPr>
            </a:lvl1pPr>
          </a:lstStyle>
          <a:p>
            <a:r>
              <a:rPr lang="th-TH" dirty="0"/>
              <a:t>ผลการปฏิบัติงาน ผสส.อย. ตั้งแต่</a:t>
            </a:r>
            <a:r>
              <a:rPr lang="en-US" dirty="0"/>
              <a:t> </a:t>
            </a:r>
            <a:r>
              <a:rPr lang="th-TH" dirty="0"/>
              <a:t>๑๕ ส.ค. – ๒๒ ก.ย. ๖๙</a:t>
            </a:r>
          </a:p>
        </p:txBody>
      </p:sp>
    </p:spTree>
    <p:extLst>
      <p:ext uri="{BB962C8B-B14F-4D97-AF65-F5344CB8AC3E}">
        <p14:creationId xmlns:p14="http://schemas.microsoft.com/office/powerpoint/2010/main" val="26649344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6AC97-E372-98BA-DA84-403E04082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 descr="C:\Users\eak\Desktop\ตรา อย star new.png">
            <a:extLst>
              <a:ext uri="{FF2B5EF4-FFF2-40B4-BE49-F238E27FC236}">
                <a16:creationId xmlns:a16="http://schemas.microsoft.com/office/drawing/2014/main" id="{B5F779E3-F7ED-41F4-9D51-AE977109F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13"/>
            <a:ext cx="1696720" cy="1470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6">
            <a:extLst>
              <a:ext uri="{FF2B5EF4-FFF2-40B4-BE49-F238E27FC236}">
                <a16:creationId xmlns:a16="http://schemas.microsoft.com/office/drawing/2014/main" id="{DB2FF13E-4081-9555-9E8D-44E320ABEEAB}"/>
              </a:ext>
            </a:extLst>
          </p:cNvPr>
          <p:cNvSpPr txBox="1"/>
          <p:nvPr/>
        </p:nvSpPr>
        <p:spPr>
          <a:xfrm>
            <a:off x="5312328" y="1394121"/>
            <a:ext cx="6879672" cy="1323348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36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ด้าน </a:t>
            </a:r>
            <a:r>
              <a:rPr lang="th-TH" sz="36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การสนับสนุน</a:t>
            </a:r>
            <a:endParaRPr kumimoji="0" lang="th-TH" sz="36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44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712A313-0A70-94CC-9745-D214CE97E2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9672622"/>
              </p:ext>
            </p:extLst>
          </p:nvPr>
        </p:nvGraphicFramePr>
        <p:xfrm>
          <a:off x="495300" y="2055798"/>
          <a:ext cx="11696700" cy="3196412"/>
        </p:xfrm>
        <a:graphic>
          <a:graphicData uri="http://schemas.openxmlformats.org/drawingml/2006/table">
            <a:tbl>
              <a:tblPr/>
              <a:tblGrid>
                <a:gridCol w="1119491">
                  <a:extLst>
                    <a:ext uri="{9D8B030D-6E8A-4147-A177-3AD203B41FA5}">
                      <a16:colId xmlns:a16="http://schemas.microsoft.com/office/drawing/2014/main" val="4190556556"/>
                    </a:ext>
                  </a:extLst>
                </a:gridCol>
                <a:gridCol w="5546044">
                  <a:extLst>
                    <a:ext uri="{9D8B030D-6E8A-4147-A177-3AD203B41FA5}">
                      <a16:colId xmlns:a16="http://schemas.microsoft.com/office/drawing/2014/main" val="3816422527"/>
                    </a:ext>
                  </a:extLst>
                </a:gridCol>
                <a:gridCol w="1601302">
                  <a:extLst>
                    <a:ext uri="{9D8B030D-6E8A-4147-A177-3AD203B41FA5}">
                      <a16:colId xmlns:a16="http://schemas.microsoft.com/office/drawing/2014/main" val="3684625179"/>
                    </a:ext>
                  </a:extLst>
                </a:gridCol>
                <a:gridCol w="1055342">
                  <a:extLst>
                    <a:ext uri="{9D8B030D-6E8A-4147-A177-3AD203B41FA5}">
                      <a16:colId xmlns:a16="http://schemas.microsoft.com/office/drawing/2014/main" val="1124400286"/>
                    </a:ext>
                  </a:extLst>
                </a:gridCol>
                <a:gridCol w="1098338">
                  <a:extLst>
                    <a:ext uri="{9D8B030D-6E8A-4147-A177-3AD203B41FA5}">
                      <a16:colId xmlns:a16="http://schemas.microsoft.com/office/drawing/2014/main" val="2848671187"/>
                    </a:ext>
                  </a:extLst>
                </a:gridCol>
                <a:gridCol w="1276183">
                  <a:extLst>
                    <a:ext uri="{9D8B030D-6E8A-4147-A177-3AD203B41FA5}">
                      <a16:colId xmlns:a16="http://schemas.microsoft.com/office/drawing/2014/main" val="2382351669"/>
                    </a:ext>
                  </a:extLst>
                </a:gridCol>
              </a:tblGrid>
              <a:tr h="474171"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ลำดับ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ภารกิจ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วันที่ปฏิบัติ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grid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ผลการปฏิบัติงาน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หมายเหตุ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149321"/>
                  </a:ext>
                </a:extLst>
              </a:tr>
              <a:tr h="474171"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เรียบร้อย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ไม่เรียบร้อย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91617"/>
                  </a:ext>
                </a:extLst>
              </a:tr>
              <a:tr h="682035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๑๕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จัด จนท.ควบคุมและอุปกรณ์สื่อสารในภารกิจ พิธีประดับยศข้าราชการในสังกัด หน่วยบัญชาการอากาศโยธิน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434343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๙ ก.ย.๖๙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th-TH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064891"/>
                  </a:ext>
                </a:extLst>
              </a:tr>
              <a:tr h="557198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๑๖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สนับสนุน จนท.ควบคุมอุปกรณ์สื่อสารในภารกิจ หน่วยบัญชาการอากาศโยธิน การตรวจสอบความพร้อมรบ และทดสอบแผนป้องกันที่ตั้งดอนเมือง ประจำปี ๖๙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434343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๘-๙ ก.ย.๖๙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907519"/>
                  </a:ext>
                </a:extLst>
              </a:tr>
              <a:tr h="47899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๑๗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สนับสนุน จนท.ควบคุมอุปกรณ์สื่อสารในภารกิจ ประชุม คณอก.ปรับปรุงแนวความคิดการปฏิบัติภารกิจการป้องกันฐาน ที่ตั้งทางทหารของ ทอ.ครั้งที่ ๓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434343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๑๑ ก.ย.๖๙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8642369"/>
                  </a:ext>
                </a:extLst>
              </a:tr>
              <a:tr h="44970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๑๘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จัด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 </a:t>
                      </a:r>
                      <a:r>
                        <a:rPr 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จนท.ควบคุมและอุปกรณ์สื่อสารในภารกิจ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 </a:t>
                      </a:r>
                      <a:r>
                        <a:rPr 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อย.จัดกิจกรรมทำบุญตักบาตร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434343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๑๖ ก.ย.๖๙ 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25689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702A219-2C6D-7DE6-C903-F38FA3B01E72}"/>
              </a:ext>
            </a:extLst>
          </p:cNvPr>
          <p:cNvSpPr txBox="1"/>
          <p:nvPr/>
        </p:nvSpPr>
        <p:spPr>
          <a:xfrm>
            <a:off x="1696719" y="320665"/>
            <a:ext cx="10174151" cy="830906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>
            <a:defPPr>
              <a:defRPr lang="th-TH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4800" b="1" i="0" u="none" strike="noStrike" cap="none" spc="0" normalizeH="0" baseline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cs typeface="TH SarabunPSK" pitchFamily="34" charset="-34"/>
              </a:defRPr>
            </a:lvl1pPr>
          </a:lstStyle>
          <a:p>
            <a:r>
              <a:rPr lang="th-TH" dirty="0"/>
              <a:t>ผลการปฏิบัติงาน ผสส.อย. ตั้งแต่</a:t>
            </a:r>
            <a:r>
              <a:rPr lang="en-US" dirty="0"/>
              <a:t> </a:t>
            </a:r>
            <a:r>
              <a:rPr lang="th-TH" dirty="0"/>
              <a:t>๑๕ ส.ค. – ๒๒ ก.ย. ๖๙</a:t>
            </a:r>
          </a:p>
        </p:txBody>
      </p:sp>
    </p:spTree>
    <p:extLst>
      <p:ext uri="{BB962C8B-B14F-4D97-AF65-F5344CB8AC3E}">
        <p14:creationId xmlns:p14="http://schemas.microsoft.com/office/powerpoint/2010/main" val="12195738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C7DF-AF2E-4C20-5177-AF006B91A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 descr="C:\Users\eak\Desktop\ตรา อย star new.png">
            <a:extLst>
              <a:ext uri="{FF2B5EF4-FFF2-40B4-BE49-F238E27FC236}">
                <a16:creationId xmlns:a16="http://schemas.microsoft.com/office/drawing/2014/main" id="{1E55F09C-9234-0F9D-CEDB-1C6ACD210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13"/>
            <a:ext cx="1696720" cy="1470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6">
            <a:extLst>
              <a:ext uri="{FF2B5EF4-FFF2-40B4-BE49-F238E27FC236}">
                <a16:creationId xmlns:a16="http://schemas.microsoft.com/office/drawing/2014/main" id="{1F47483F-A726-E433-6FBE-E59057E88FEF}"/>
              </a:ext>
            </a:extLst>
          </p:cNvPr>
          <p:cNvSpPr txBox="1"/>
          <p:nvPr/>
        </p:nvSpPr>
        <p:spPr>
          <a:xfrm>
            <a:off x="3927740" y="1400313"/>
            <a:ext cx="6879672" cy="1323348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36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ด้าน ปฏิบัติการ</a:t>
            </a:r>
            <a:r>
              <a:rPr lang="th-TH" sz="36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สื่อสารยุทธวิธี</a:t>
            </a:r>
            <a:endParaRPr kumimoji="0" lang="th-TH" sz="36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44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C08FA21-C512-E8AB-184E-DE549C6878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22683"/>
              </p:ext>
            </p:extLst>
          </p:nvPr>
        </p:nvGraphicFramePr>
        <p:xfrm>
          <a:off x="364960" y="2055795"/>
          <a:ext cx="11443749" cy="4634754"/>
        </p:xfrm>
        <a:graphic>
          <a:graphicData uri="http://schemas.openxmlformats.org/drawingml/2006/table">
            <a:tbl>
              <a:tblPr/>
              <a:tblGrid>
                <a:gridCol w="1054818">
                  <a:extLst>
                    <a:ext uri="{9D8B030D-6E8A-4147-A177-3AD203B41FA5}">
                      <a16:colId xmlns:a16="http://schemas.microsoft.com/office/drawing/2014/main" val="4190556556"/>
                    </a:ext>
                  </a:extLst>
                </a:gridCol>
                <a:gridCol w="5466572">
                  <a:extLst>
                    <a:ext uri="{9D8B030D-6E8A-4147-A177-3AD203B41FA5}">
                      <a16:colId xmlns:a16="http://schemas.microsoft.com/office/drawing/2014/main" val="3816422527"/>
                    </a:ext>
                  </a:extLst>
                </a:gridCol>
                <a:gridCol w="1566671">
                  <a:extLst>
                    <a:ext uri="{9D8B030D-6E8A-4147-A177-3AD203B41FA5}">
                      <a16:colId xmlns:a16="http://schemas.microsoft.com/office/drawing/2014/main" val="3684625179"/>
                    </a:ext>
                  </a:extLst>
                </a:gridCol>
                <a:gridCol w="1032520">
                  <a:extLst>
                    <a:ext uri="{9D8B030D-6E8A-4147-A177-3AD203B41FA5}">
                      <a16:colId xmlns:a16="http://schemas.microsoft.com/office/drawing/2014/main" val="1124400286"/>
                    </a:ext>
                  </a:extLst>
                </a:gridCol>
                <a:gridCol w="1074584">
                  <a:extLst>
                    <a:ext uri="{9D8B030D-6E8A-4147-A177-3AD203B41FA5}">
                      <a16:colId xmlns:a16="http://schemas.microsoft.com/office/drawing/2014/main" val="2848671187"/>
                    </a:ext>
                  </a:extLst>
                </a:gridCol>
                <a:gridCol w="1248584">
                  <a:extLst>
                    <a:ext uri="{9D8B030D-6E8A-4147-A177-3AD203B41FA5}">
                      <a16:colId xmlns:a16="http://schemas.microsoft.com/office/drawing/2014/main" val="2382351669"/>
                    </a:ext>
                  </a:extLst>
                </a:gridCol>
              </a:tblGrid>
              <a:tr h="298234"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ลำดับ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ภารกิจ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วันที่ปฏิบัติ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grid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ผลการปฏิบัติงาน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หมายเหตุ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149321"/>
                  </a:ext>
                </a:extLst>
              </a:tr>
              <a:tr h="668306"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เรียบร้อย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ไม่เรียบร้อย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91617"/>
                  </a:ext>
                </a:extLst>
              </a:tr>
              <a:tr h="521155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เตรียมความพร้อมทำการทดสอบระบบวิทยุ </a:t>
                      </a:r>
                      <a:r>
                        <a:rPr kumimoji="0" lang="en-US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LTE 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ทุกวันอังคาร ณ 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ศยพ.ศ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ปก.ทอ.</a:t>
                      </a: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ทุกวันอังคาร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th-TH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064891"/>
                  </a:ext>
                </a:extLst>
              </a:tr>
              <a:tr h="463811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๒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จัด 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จนท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.เพื่อตรวจสอบการใช้งานเครื่องมือสื่อสาร ในเขตพระราชฐาน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พระตำหนักที่ประทับ ๙๐๔ ดอนเมือง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ทุกวันพุธ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th-TH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√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907519"/>
                  </a:ext>
                </a:extLst>
              </a:tr>
              <a:tr h="488689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8642369"/>
                  </a:ext>
                </a:extLst>
              </a:tr>
              <a:tr h="520700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2873443"/>
                  </a:ext>
                </a:extLst>
              </a:tr>
              <a:tr h="463811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4855540"/>
                  </a:ext>
                </a:extLst>
              </a:tr>
              <a:tr h="463811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0618273"/>
                  </a:ext>
                </a:extLst>
              </a:tr>
              <a:tr h="456678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012311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2D0BBC2-3AB7-478F-BFF0-0EDE33EE2EA8}"/>
              </a:ext>
            </a:extLst>
          </p:cNvPr>
          <p:cNvSpPr txBox="1"/>
          <p:nvPr/>
        </p:nvSpPr>
        <p:spPr>
          <a:xfrm>
            <a:off x="1696720" y="282064"/>
            <a:ext cx="8548716" cy="830906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/>
          <a:p>
            <a:pPr lvl="0">
              <a:defRPr/>
            </a:pPr>
            <a:r>
              <a:rPr lang="th-TH" sz="48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แผน</a:t>
            </a:r>
            <a:r>
              <a:rPr kumimoji="0" lang="th-TH" sz="4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การปฏิบัติงาน </a:t>
            </a:r>
            <a:r>
              <a:rPr lang="th-TH" sz="4800" b="1" noProof="0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ผสส.อย. ในวงรอบถัดไป</a:t>
            </a:r>
            <a:endParaRPr kumimoji="0" lang="th-TH" sz="4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3456699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9C97B-71C0-DC94-0FFD-74F0AC541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 descr="C:\Users\eak\Desktop\ตรา อย star new.png">
            <a:extLst>
              <a:ext uri="{FF2B5EF4-FFF2-40B4-BE49-F238E27FC236}">
                <a16:creationId xmlns:a16="http://schemas.microsoft.com/office/drawing/2014/main" id="{8858C421-AED4-1F89-47B0-48D80AE92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13"/>
            <a:ext cx="1696720" cy="1470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6">
            <a:extLst>
              <a:ext uri="{FF2B5EF4-FFF2-40B4-BE49-F238E27FC236}">
                <a16:creationId xmlns:a16="http://schemas.microsoft.com/office/drawing/2014/main" id="{417FCFD1-F711-47B6-F596-DDD1B7163FF4}"/>
              </a:ext>
            </a:extLst>
          </p:cNvPr>
          <p:cNvSpPr txBox="1"/>
          <p:nvPr/>
        </p:nvSpPr>
        <p:spPr>
          <a:xfrm>
            <a:off x="2961013" y="1402282"/>
            <a:ext cx="6879672" cy="1323348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36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ด้าน งานพัสดุสายสื่อสารอิเล็กทรอนิกส์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44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DFC0AEC-BED6-1B23-224C-9017DF0EE8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2972061"/>
              </p:ext>
            </p:extLst>
          </p:nvPr>
        </p:nvGraphicFramePr>
        <p:xfrm>
          <a:off x="495300" y="2055795"/>
          <a:ext cx="11313408" cy="2919275"/>
        </p:xfrm>
        <a:graphic>
          <a:graphicData uri="http://schemas.openxmlformats.org/drawingml/2006/table">
            <a:tbl>
              <a:tblPr/>
              <a:tblGrid>
                <a:gridCol w="1042803">
                  <a:extLst>
                    <a:ext uri="{9D8B030D-6E8A-4147-A177-3AD203B41FA5}">
                      <a16:colId xmlns:a16="http://schemas.microsoft.com/office/drawing/2014/main" val="4190556556"/>
                    </a:ext>
                  </a:extLst>
                </a:gridCol>
                <a:gridCol w="5404309">
                  <a:extLst>
                    <a:ext uri="{9D8B030D-6E8A-4147-A177-3AD203B41FA5}">
                      <a16:colId xmlns:a16="http://schemas.microsoft.com/office/drawing/2014/main" val="3816422527"/>
                    </a:ext>
                  </a:extLst>
                </a:gridCol>
                <a:gridCol w="1548828">
                  <a:extLst>
                    <a:ext uri="{9D8B030D-6E8A-4147-A177-3AD203B41FA5}">
                      <a16:colId xmlns:a16="http://schemas.microsoft.com/office/drawing/2014/main" val="3684625179"/>
                    </a:ext>
                  </a:extLst>
                </a:gridCol>
                <a:gridCol w="1020760">
                  <a:extLst>
                    <a:ext uri="{9D8B030D-6E8A-4147-A177-3AD203B41FA5}">
                      <a16:colId xmlns:a16="http://schemas.microsoft.com/office/drawing/2014/main" val="1124400286"/>
                    </a:ext>
                  </a:extLst>
                </a:gridCol>
                <a:gridCol w="1062345">
                  <a:extLst>
                    <a:ext uri="{9D8B030D-6E8A-4147-A177-3AD203B41FA5}">
                      <a16:colId xmlns:a16="http://schemas.microsoft.com/office/drawing/2014/main" val="2848671187"/>
                    </a:ext>
                  </a:extLst>
                </a:gridCol>
                <a:gridCol w="1234363">
                  <a:extLst>
                    <a:ext uri="{9D8B030D-6E8A-4147-A177-3AD203B41FA5}">
                      <a16:colId xmlns:a16="http://schemas.microsoft.com/office/drawing/2014/main" val="2382351669"/>
                    </a:ext>
                  </a:extLst>
                </a:gridCol>
              </a:tblGrid>
              <a:tr h="298234"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ลำดับ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ภารกิจ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วันที่ปฏิบัติ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grid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ผลการปฏิบัติงาน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หมายเหตุ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149321"/>
                  </a:ext>
                </a:extLst>
              </a:tr>
              <a:tr h="668306"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เรียบร้อย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ไม่เรียบร้อย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91617"/>
                  </a:ext>
                </a:extLst>
              </a:tr>
              <a:tr h="521155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เตรียมข้อมูล ติดตามการซ่อมบำรุง 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คมส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</a:t>
                      </a: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ทุกวันศุกร์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-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-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064891"/>
                  </a:ext>
                </a:extLst>
              </a:tr>
              <a:tr h="463811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๒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เตรียมการรวบรวมสถานภาพ 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คมส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.จาก 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นขต.อย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.เพื่อรายงาน 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กกบ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บก.อย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.และสอ.ทอ.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ภายในวันที่ ๕ และ ๑๐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907519"/>
                  </a:ext>
                </a:extLst>
              </a:tr>
              <a:tr h="488689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๓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เตรียมการรวบรวมสถานภาพ 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คมส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.เขตพระราชฐาน พระตำหนักที่ประทับ ๙๐๔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หน่วยบินเดชัย ๓ ดอนเมือง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ภายในวันที่ ๑๐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864236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2DFFF10-AC3F-47F7-28F2-335AE73681CD}"/>
              </a:ext>
            </a:extLst>
          </p:cNvPr>
          <p:cNvSpPr txBox="1"/>
          <p:nvPr/>
        </p:nvSpPr>
        <p:spPr>
          <a:xfrm>
            <a:off x="1696720" y="282064"/>
            <a:ext cx="8548716" cy="830906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/>
          <a:p>
            <a:pPr lvl="0">
              <a:defRPr/>
            </a:pPr>
            <a:r>
              <a:rPr lang="th-TH" sz="48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แผน</a:t>
            </a:r>
            <a:r>
              <a:rPr kumimoji="0" lang="th-TH" sz="4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การปฏิบัติงาน </a:t>
            </a:r>
            <a:r>
              <a:rPr lang="th-TH" sz="4800" b="1" noProof="0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ผสส.อย. ในวงรอบถัดไป</a:t>
            </a:r>
            <a:endParaRPr kumimoji="0" lang="th-TH" sz="4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03559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9C97B-71C0-DC94-0FFD-74F0AC541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 descr="C:\Users\eak\Desktop\ตรา อย star new.png">
            <a:extLst>
              <a:ext uri="{FF2B5EF4-FFF2-40B4-BE49-F238E27FC236}">
                <a16:creationId xmlns:a16="http://schemas.microsoft.com/office/drawing/2014/main" id="{8858C421-AED4-1F89-47B0-48D80AE92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13"/>
            <a:ext cx="1696720" cy="1470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6">
            <a:extLst>
              <a:ext uri="{FF2B5EF4-FFF2-40B4-BE49-F238E27FC236}">
                <a16:creationId xmlns:a16="http://schemas.microsoft.com/office/drawing/2014/main" id="{417FCFD1-F711-47B6-F596-DDD1B7163FF4}"/>
              </a:ext>
            </a:extLst>
          </p:cNvPr>
          <p:cNvSpPr txBox="1"/>
          <p:nvPr/>
        </p:nvSpPr>
        <p:spPr>
          <a:xfrm>
            <a:off x="3932564" y="1469352"/>
            <a:ext cx="6879672" cy="1323348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36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ด้าน การซ่อมบำรุง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44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DFC0AEC-BED6-1B23-224C-9017DF0EE8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7717198"/>
              </p:ext>
            </p:extLst>
          </p:nvPr>
        </p:nvGraphicFramePr>
        <p:xfrm>
          <a:off x="495300" y="2055795"/>
          <a:ext cx="11313408" cy="3656905"/>
        </p:xfrm>
        <a:graphic>
          <a:graphicData uri="http://schemas.openxmlformats.org/drawingml/2006/table">
            <a:tbl>
              <a:tblPr/>
              <a:tblGrid>
                <a:gridCol w="1042803">
                  <a:extLst>
                    <a:ext uri="{9D8B030D-6E8A-4147-A177-3AD203B41FA5}">
                      <a16:colId xmlns:a16="http://schemas.microsoft.com/office/drawing/2014/main" val="4190556556"/>
                    </a:ext>
                  </a:extLst>
                </a:gridCol>
                <a:gridCol w="5404309">
                  <a:extLst>
                    <a:ext uri="{9D8B030D-6E8A-4147-A177-3AD203B41FA5}">
                      <a16:colId xmlns:a16="http://schemas.microsoft.com/office/drawing/2014/main" val="3816422527"/>
                    </a:ext>
                  </a:extLst>
                </a:gridCol>
                <a:gridCol w="1548828">
                  <a:extLst>
                    <a:ext uri="{9D8B030D-6E8A-4147-A177-3AD203B41FA5}">
                      <a16:colId xmlns:a16="http://schemas.microsoft.com/office/drawing/2014/main" val="3684625179"/>
                    </a:ext>
                  </a:extLst>
                </a:gridCol>
                <a:gridCol w="1020760">
                  <a:extLst>
                    <a:ext uri="{9D8B030D-6E8A-4147-A177-3AD203B41FA5}">
                      <a16:colId xmlns:a16="http://schemas.microsoft.com/office/drawing/2014/main" val="1124400286"/>
                    </a:ext>
                  </a:extLst>
                </a:gridCol>
                <a:gridCol w="1062345">
                  <a:extLst>
                    <a:ext uri="{9D8B030D-6E8A-4147-A177-3AD203B41FA5}">
                      <a16:colId xmlns:a16="http://schemas.microsoft.com/office/drawing/2014/main" val="2848671187"/>
                    </a:ext>
                  </a:extLst>
                </a:gridCol>
                <a:gridCol w="1234363">
                  <a:extLst>
                    <a:ext uri="{9D8B030D-6E8A-4147-A177-3AD203B41FA5}">
                      <a16:colId xmlns:a16="http://schemas.microsoft.com/office/drawing/2014/main" val="2382351669"/>
                    </a:ext>
                  </a:extLst>
                </a:gridCol>
              </a:tblGrid>
              <a:tr h="298234"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ลำดับ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ภารกิจ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วันที่ปฏิบัติ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grid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ผลการปฏิบัติงาน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หมายเหตุ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149321"/>
                  </a:ext>
                </a:extLst>
              </a:tr>
              <a:tr h="668306"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เรียบร้อย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ไม่เรียบร้อย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91617"/>
                  </a:ext>
                </a:extLst>
              </a:tr>
              <a:tr h="521155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ทำ </a:t>
                      </a:r>
                      <a:r>
                        <a:rPr kumimoji="0" lang="en-US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PMI </a:t>
                      </a:r>
                      <a:r>
                        <a:rPr kumimoji="0" lang="th-TH" altLang="th-TH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คมส</a:t>
                      </a: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.และชาร์จแบตเตอรี่</a:t>
                      </a: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ทุกวันศุกร์ สัปดาห์ที่ ๒ และ ๔ ของเดือน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-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-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064891"/>
                  </a:ext>
                </a:extLst>
              </a:tr>
              <a:tr h="463811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907519"/>
                  </a:ext>
                </a:extLst>
              </a:tr>
              <a:tr h="488689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8642369"/>
                  </a:ext>
                </a:extLst>
              </a:tr>
              <a:tr h="520700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2873443"/>
                  </a:ext>
                </a:extLst>
              </a:tr>
              <a:tr h="463811"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CF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485554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3203F82-BA48-ED41-DFD6-7110AE623808}"/>
              </a:ext>
            </a:extLst>
          </p:cNvPr>
          <p:cNvSpPr txBox="1"/>
          <p:nvPr/>
        </p:nvSpPr>
        <p:spPr>
          <a:xfrm>
            <a:off x="1696720" y="282064"/>
            <a:ext cx="8548716" cy="830906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/>
          <a:p>
            <a:pPr lvl="0">
              <a:defRPr/>
            </a:pPr>
            <a:r>
              <a:rPr lang="th-TH" sz="48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แผน</a:t>
            </a:r>
            <a:r>
              <a:rPr kumimoji="0" lang="th-TH" sz="4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การปฏิบัติงาน </a:t>
            </a:r>
            <a:r>
              <a:rPr lang="th-TH" sz="4800" b="1" noProof="0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ผสส.อย. ในวงรอบถัดไป</a:t>
            </a:r>
            <a:endParaRPr kumimoji="0" lang="th-TH" sz="4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78145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9C97B-71C0-DC94-0FFD-74F0AC541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 descr="C:\Users\eak\Desktop\ตรา อย star new.png">
            <a:extLst>
              <a:ext uri="{FF2B5EF4-FFF2-40B4-BE49-F238E27FC236}">
                <a16:creationId xmlns:a16="http://schemas.microsoft.com/office/drawing/2014/main" id="{8858C421-AED4-1F89-47B0-48D80AE92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13"/>
            <a:ext cx="1696720" cy="1470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6">
            <a:extLst>
              <a:ext uri="{FF2B5EF4-FFF2-40B4-BE49-F238E27FC236}">
                <a16:creationId xmlns:a16="http://schemas.microsoft.com/office/drawing/2014/main" id="{417FCFD1-F711-47B6-F596-DDD1B7163FF4}"/>
              </a:ext>
            </a:extLst>
          </p:cNvPr>
          <p:cNvSpPr txBox="1"/>
          <p:nvPr/>
        </p:nvSpPr>
        <p:spPr>
          <a:xfrm>
            <a:off x="4259136" y="1471324"/>
            <a:ext cx="6879672" cy="1323348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36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ด้าน การสนับสนุน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44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DFC0AEC-BED6-1B23-224C-9017DF0EE8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1820524"/>
              </p:ext>
            </p:extLst>
          </p:nvPr>
        </p:nvGraphicFramePr>
        <p:xfrm>
          <a:off x="495298" y="2055795"/>
          <a:ext cx="11563350" cy="2289838"/>
        </p:xfrm>
        <a:graphic>
          <a:graphicData uri="http://schemas.openxmlformats.org/drawingml/2006/table">
            <a:tbl>
              <a:tblPr/>
              <a:tblGrid>
                <a:gridCol w="1065841">
                  <a:extLst>
                    <a:ext uri="{9D8B030D-6E8A-4147-A177-3AD203B41FA5}">
                      <a16:colId xmlns:a16="http://schemas.microsoft.com/office/drawing/2014/main" val="4190556556"/>
                    </a:ext>
                  </a:extLst>
                </a:gridCol>
                <a:gridCol w="5523704">
                  <a:extLst>
                    <a:ext uri="{9D8B030D-6E8A-4147-A177-3AD203B41FA5}">
                      <a16:colId xmlns:a16="http://schemas.microsoft.com/office/drawing/2014/main" val="3816422527"/>
                    </a:ext>
                  </a:extLst>
                </a:gridCol>
                <a:gridCol w="1583046">
                  <a:extLst>
                    <a:ext uri="{9D8B030D-6E8A-4147-A177-3AD203B41FA5}">
                      <a16:colId xmlns:a16="http://schemas.microsoft.com/office/drawing/2014/main" val="3684625179"/>
                    </a:ext>
                  </a:extLst>
                </a:gridCol>
                <a:gridCol w="1043311">
                  <a:extLst>
                    <a:ext uri="{9D8B030D-6E8A-4147-A177-3AD203B41FA5}">
                      <a16:colId xmlns:a16="http://schemas.microsoft.com/office/drawing/2014/main" val="1124400286"/>
                    </a:ext>
                  </a:extLst>
                </a:gridCol>
                <a:gridCol w="891180">
                  <a:extLst>
                    <a:ext uri="{9D8B030D-6E8A-4147-A177-3AD203B41FA5}">
                      <a16:colId xmlns:a16="http://schemas.microsoft.com/office/drawing/2014/main" val="2848671187"/>
                    </a:ext>
                  </a:extLst>
                </a:gridCol>
                <a:gridCol w="1456268">
                  <a:extLst>
                    <a:ext uri="{9D8B030D-6E8A-4147-A177-3AD203B41FA5}">
                      <a16:colId xmlns:a16="http://schemas.microsoft.com/office/drawing/2014/main" val="2382351669"/>
                    </a:ext>
                  </a:extLst>
                </a:gridCol>
              </a:tblGrid>
              <a:tr h="298234"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ลำดับ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ภารกิจ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วันที่ปฏิบัติ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grid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ผลการปฏิบัติงาน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rowSpan="2"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หมายเหตุ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149321"/>
                  </a:ext>
                </a:extLst>
              </a:tr>
              <a:tr h="668306"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เรียบร้อย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>
                      <a:lvl1pPr marL="0" algn="l" rtl="0" eaLnBrk="1" latinLnBrk="0" hangingPunct="1">
                        <a:spcBef>
                          <a:spcPts val="700"/>
                        </a:spcBef>
                        <a:buClr>
                          <a:schemeClr val="tx2"/>
                        </a:buClr>
                        <a:buSzPct val="95000"/>
                        <a:buFont typeface="Wingdings" panose="05000000000000000000" pitchFamily="2" charset="2"/>
                        <a:defRPr kumimoji="0" sz="26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1pPr>
                      <a:lvl2pPr marL="742950" indent="-28575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90000"/>
                        <a:buFont typeface="Wingdings" panose="05000000000000000000" pitchFamily="2" charset="2"/>
                        <a:defRPr kumimoji="0" sz="22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2pPr>
                      <a:lvl3pPr marL="1143000" indent="-228600" algn="l" rtl="0" eaLnBrk="1" latinLnBrk="0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 2" panose="050201020105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3pPr>
                      <a:lvl4pPr marL="16002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3" panose="05040102010807070707" pitchFamily="18" charset="2"/>
                        <a:defRPr kumimoji="0" sz="200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4pPr>
                      <a:lvl5pPr marL="2057400" indent="-228600" algn="l" rtl="0" eaLnBrk="1" latinLnBrk="0" hangingPunct="1">
                        <a:spcBef>
                          <a:spcPct val="20000"/>
                        </a:spcBef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5pPr>
                      <a:lvl6pPr marL="25146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6pPr>
                      <a:lvl7pPr marL="29718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7pPr>
                      <a:lvl8pPr marL="34290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8pPr>
                      <a:lvl9pPr marL="3886200" indent="-228600" algn="l" rtl="0" eaLnBrk="0" fontAlgn="base" latinLnBrk="0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EB80A"/>
                        </a:buClr>
                        <a:buFont typeface="Wingdings 2" panose="05020102010507070707" pitchFamily="18" charset="2"/>
                        <a:defRPr kumimoji="0" kern="1200">
                          <a:solidFill>
                            <a:schemeClr val="tx1"/>
                          </a:solidFill>
                          <a:latin typeface="Corbel" panose="020B0503020204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ไม่เรียบร้อย</a:t>
                      </a:r>
                      <a:endParaRPr kumimoji="0" lang="en-US" altLang="th-TH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FF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anchor="ctr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th-T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91617"/>
                  </a:ext>
                </a:extLst>
              </a:tr>
              <a:tr h="46381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th-TH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โครงการดูแลเพื่อนชาวทหารอากาศให้ห่างไกลจากโรคต้อหิน และเบาหวานขี้นจอประสาทตา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th-TH" sz="2000" b="0" i="0" u="none" strike="noStrike" dirty="0">
                          <a:solidFill>
                            <a:srgbClr val="434343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๑๘ ส.ค.๖๙</a:t>
                      </a:r>
                      <a:endParaRPr lang="en-US" sz="2000" b="0" i="0" u="none" strike="noStrike" dirty="0">
                        <a:solidFill>
                          <a:srgbClr val="434343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-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-</a:t>
                      </a: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h-TH" altLang="th-TH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H SarabunPSK" panose="020B0500040200020003" pitchFamily="34" charset="-34"/>
                          <a:ea typeface="+mn-ea"/>
                          <a:cs typeface="TH SarabunPSK" panose="020B0500040200020003" pitchFamily="34" charset="-34"/>
                        </a:rPr>
                        <a:t>อยู่ระหว่างเตรียมการ</a:t>
                      </a:r>
                      <a:endParaRPr kumimoji="0" lang="th-TH" altLang="th-TH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H SarabunPSK" panose="020B0500040200020003" pitchFamily="34" charset="-34"/>
                        <a:ea typeface="+mn-ea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381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๒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305" marB="34305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th-TH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ประชุมเตรียมความพร้อมในการชี้แจงขอตั้งและเปลี่ยนแปลงอัตราจ่ายยานพาหนะสายขนส่ง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th-TH" sz="2000" b="0" i="0" u="none" strike="noStrike">
                          <a:solidFill>
                            <a:srgbClr val="434343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 ๒๐ ส.ค.๖๙</a:t>
                      </a:r>
                      <a:endParaRPr lang="en-US" sz="2000" b="0" i="0" u="none" strike="noStrike" dirty="0">
                        <a:solidFill>
                          <a:srgbClr val="434343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-</a:t>
                      </a:r>
                      <a:endParaRPr kumimoji="0" lang="en-US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h-TH" altLang="th-TH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H SarabunPSK" panose="020B0500040200020003" pitchFamily="34" charset="-34"/>
                          <a:cs typeface="TH SarabunPSK" panose="020B0500040200020003" pitchFamily="34" charset="-34"/>
                        </a:rPr>
                        <a:t>-</a:t>
                      </a:r>
                      <a:endParaRPr kumimoji="0" lang="th-TH" altLang="th-TH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H SarabunPSK" panose="020B0500040200020003" pitchFamily="34" charset="-34"/>
                        <a:cs typeface="TH SarabunPSK" panose="020B0500040200020003" pitchFamily="34" charset="-34"/>
                      </a:endParaRP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h-TH" altLang="th-TH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H SarabunPSK" panose="020B0500040200020003" pitchFamily="34" charset="-34"/>
                          <a:ea typeface="+mn-ea"/>
                          <a:cs typeface="TH SarabunPSK" panose="020B0500040200020003" pitchFamily="34" charset="-34"/>
                        </a:rPr>
                        <a:t>อยู่ระหว่างเตรียมการ</a:t>
                      </a:r>
                    </a:p>
                  </a:txBody>
                  <a:tcPr marL="68585" marR="68585" marT="34297" marB="34297" horzOverflow="overflow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32751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3EA5AA-B72E-A952-92FD-EF2FAFEBB702}"/>
              </a:ext>
            </a:extLst>
          </p:cNvPr>
          <p:cNvSpPr txBox="1"/>
          <p:nvPr/>
        </p:nvSpPr>
        <p:spPr>
          <a:xfrm>
            <a:off x="1696720" y="282064"/>
            <a:ext cx="8548716" cy="830906"/>
          </a:xfrm>
          <a:prstGeom prst="rect">
            <a:avLst/>
          </a:prstGeom>
          <a:noFill/>
        </p:spPr>
        <p:txBody>
          <a:bodyPr wrap="square" lIns="91350" tIns="45675" rIns="91350" bIns="45675" rtlCol="0">
            <a:spAutoFit/>
          </a:bodyPr>
          <a:lstStyle/>
          <a:p>
            <a:pPr lvl="0">
              <a:defRPr/>
            </a:pPr>
            <a:r>
              <a:rPr lang="th-TH" sz="4800" b="1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แผน</a:t>
            </a:r>
            <a:r>
              <a:rPr kumimoji="0" lang="th-TH" sz="4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การปฏิบัติงาน </a:t>
            </a:r>
            <a:r>
              <a:rPr lang="th-TH" sz="4800" b="1" noProof="0" dirty="0"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H SarabunPSK" pitchFamily="34" charset="-34"/>
                <a:cs typeface="TH SarabunPSK" pitchFamily="34" charset="-34"/>
              </a:rPr>
              <a:t>ผสส.อย. ในวงรอบถัดไป</a:t>
            </a:r>
            <a:endParaRPr kumimoji="0" lang="th-TH" sz="4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793698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18F8537-E0BA-E51C-082A-32E7A921E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9E9CF0-6D04-E1FE-2B22-D6DB1580255D}"/>
              </a:ext>
            </a:extLst>
          </p:cNvPr>
          <p:cNvSpPr txBox="1"/>
          <p:nvPr/>
        </p:nvSpPr>
        <p:spPr>
          <a:xfrm>
            <a:off x="-14177" y="3716767"/>
            <a:ext cx="12192000" cy="1138646"/>
          </a:xfrm>
          <a:prstGeom prst="rect">
            <a:avLst/>
          </a:prstGeom>
          <a:noFill/>
        </p:spPr>
        <p:txBody>
          <a:bodyPr wrap="square" lIns="121794" tIns="60897" rIns="121794" bIns="60897" rtlCol="0">
            <a:spAutoFit/>
          </a:bodyPr>
          <a:lstStyle/>
          <a:p>
            <a:pPr marL="0" marR="0" lvl="0" indent="0" algn="ctr" defTabSz="121779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4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ผลและแผนการปฏิบัติงาน </a:t>
            </a:r>
            <a:r>
              <a:rPr kumimoji="0" lang="th-TH" sz="4800" b="1" i="0" u="none" strike="noStrike" kern="1200" cap="none" spc="0" normalizeH="0" baseline="0" noProof="0" dirty="0" err="1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ผสส.อย</a:t>
            </a:r>
            <a:r>
              <a:rPr kumimoji="0" lang="th-TH" sz="4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glow rad="101600">
                    <a:srgbClr val="000000"/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H SarabunPSK" pitchFamily="34" charset="-34"/>
                <a:ea typeface="+mn-ea"/>
                <a:cs typeface="TH SarabunPSK" pitchFamily="34" charset="-34"/>
              </a:rPr>
              <a:t>.</a:t>
            </a:r>
            <a:endParaRPr kumimoji="0" lang="th-TH" sz="24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>
                <a:glow rad="101600">
                  <a:srgbClr val="000000"/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H SarabunPSK" pitchFamily="34" charset="-34"/>
              <a:ea typeface="+mn-ea"/>
              <a:cs typeface="TH SarabunPSK" pitchFamily="34" charset="-34"/>
            </a:endParaRPr>
          </a:p>
        </p:txBody>
      </p:sp>
      <p:pic>
        <p:nvPicPr>
          <p:cNvPr id="5" name="Picture 2" descr="C:\Users\eak\Desktop\ตรา อย star new.png">
            <a:extLst>
              <a:ext uri="{FF2B5EF4-FFF2-40B4-BE49-F238E27FC236}">
                <a16:creationId xmlns:a16="http://schemas.microsoft.com/office/drawing/2014/main" id="{576748F3-FFE9-3B59-C108-43D8586D19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3852" y="278039"/>
            <a:ext cx="4138645" cy="35866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8817090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Foundry">
  <a:themeElements>
    <a:clrScheme name="Executive">
      <a:dk1>
        <a:sysClr val="windowText" lastClr="000000"/>
      </a:dk1>
      <a:lt1>
        <a:sysClr val="window" lastClr="FFFFFF"/>
      </a:lt1>
      <a:dk2>
        <a:srgbClr val="2F5897"/>
      </a:dk2>
      <a:lt2>
        <a:srgbClr val="E4E9EF"/>
      </a:lt2>
      <a:accent1>
        <a:srgbClr val="6076B4"/>
      </a:accent1>
      <a:accent2>
        <a:srgbClr val="9C5252"/>
      </a:accent2>
      <a:accent3>
        <a:srgbClr val="E68422"/>
      </a:accent3>
      <a:accent4>
        <a:srgbClr val="846648"/>
      </a:accent4>
      <a:accent5>
        <a:srgbClr val="63891F"/>
      </a:accent5>
      <a:accent6>
        <a:srgbClr val="758085"/>
      </a:accent6>
      <a:hlink>
        <a:srgbClr val="3399FF"/>
      </a:hlink>
      <a:folHlink>
        <a:srgbClr val="B2B2B2"/>
      </a:folHlink>
    </a:clrScheme>
    <a:fontScheme name="Foundry">
      <a:majorFont>
        <a:latin typeface="Rockwell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Rockwell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Foundry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80000"/>
              </a:schemeClr>
            </a:gs>
            <a:gs pos="62000">
              <a:schemeClr val="phClr">
                <a:tint val="30000"/>
                <a:satMod val="180000"/>
              </a:schemeClr>
            </a:gs>
            <a:gs pos="100000">
              <a:schemeClr val="phClr">
                <a:tint val="22000"/>
                <a:satMod val="18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58000"/>
                <a:satMod val="150000"/>
              </a:schemeClr>
            </a:gs>
            <a:gs pos="72000">
              <a:schemeClr val="phClr">
                <a:tint val="90000"/>
                <a:satMod val="135000"/>
              </a:schemeClr>
            </a:gs>
            <a:gs pos="100000">
              <a:schemeClr val="phClr">
                <a:tint val="8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80000"/>
            </a:schemeClr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000000"/>
            </a:lightRig>
          </a:scene3d>
          <a:sp3d prstMaterial="matte">
            <a:bevelT w="63500" h="635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75000"/>
                <a:satMod val="400000"/>
              </a:schemeClr>
            </a:gs>
            <a:gs pos="20000">
              <a:schemeClr val="phClr">
                <a:tint val="80000"/>
                <a:satMod val="355000"/>
              </a:schemeClr>
            </a:gs>
            <a:gs pos="100000">
              <a:schemeClr val="phClr">
                <a:tint val="95000"/>
                <a:shade val="55000"/>
                <a:satMod val="355000"/>
              </a:schemeClr>
            </a:gs>
          </a:gsLst>
          <a:path path="circle">
            <a:fillToRect l="67500" t="35000" r="32500" b="65000"/>
          </a:path>
        </a:gradFill>
        <a:blipFill>
          <a:blip xmlns:r="http://schemas.openxmlformats.org/officeDocument/2006/relationships" r:embed="rId1">
            <a:duotone>
              <a:schemeClr val="phClr">
                <a:shade val="30000"/>
                <a:satMod val="120000"/>
              </a:schemeClr>
              <a:schemeClr val="phClr">
                <a:tint val="70000"/>
                <a:satMod val="250000"/>
              </a:schemeClr>
            </a:duotone>
          </a:blip>
          <a:tile tx="0" ty="0" sx="50000" sy="50000" flip="none" algn="t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2191</TotalTime>
  <Words>1124</Words>
  <Application>Microsoft Office PowerPoint</Application>
  <PresentationFormat>Widescreen</PresentationFormat>
  <Paragraphs>255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Calibri</vt:lpstr>
      <vt:lpstr>Rockwell</vt:lpstr>
      <vt:lpstr>TH SarabunPSK</vt:lpstr>
      <vt:lpstr>Wingdings 2</vt:lpstr>
      <vt:lpstr>Foundry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กีรติ จีระมะกร</dc:creator>
  <cp:lastModifiedBy>Kittipon Klumame</cp:lastModifiedBy>
  <cp:revision>427</cp:revision>
  <dcterms:created xsi:type="dcterms:W3CDTF">2025-04-03T04:11:04Z</dcterms:created>
  <dcterms:modified xsi:type="dcterms:W3CDTF">2026-09-16T03:01:35Z</dcterms:modified>
</cp:coreProperties>
</file>